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26" r:id="rId5"/>
    <p:sldId id="327" r:id="rId6"/>
    <p:sldId id="328" r:id="rId7"/>
    <p:sldId id="329" r:id="rId8"/>
    <p:sldId id="330" r:id="rId9"/>
    <p:sldId id="331" r:id="rId10"/>
    <p:sldId id="332" r:id="rId11"/>
    <p:sldId id="333" r:id="rId12"/>
    <p:sldId id="334" r:id="rId13"/>
    <p:sldId id="335" r:id="rId14"/>
    <p:sldId id="336" r:id="rId15"/>
    <p:sldId id="33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636A58"/>
    <a:srgbClr val="505A47"/>
    <a:srgbClr val="D1D8B7"/>
    <a:srgbClr val="A09D79"/>
    <a:srgbClr val="AD5C4D"/>
    <a:srgbClr val="543E35"/>
    <a:srgbClr val="637700"/>
    <a:srgbClr val="FFF4ED"/>
    <a:srgbClr val="5E6A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5858" autoAdjust="0"/>
  </p:normalViewPr>
  <p:slideViewPr>
    <p:cSldViewPr snapToGrid="0">
      <p:cViewPr varScale="1">
        <p:scale>
          <a:sx n="82" d="100"/>
          <a:sy n="82" d="100"/>
        </p:scale>
        <p:origin x="1572" y="66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9/30/2026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2542C-6F0E-7A9A-9CC6-0B20C3F4F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49485F-6232-8C63-4083-AD2AAADD9D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3A8D7F-099E-C529-4FF2-323A91DCD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62A77-6035-D3FD-0971-2902D23041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920665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B6CD3-2D59-E6BA-1D8B-071B0BF17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3CB097-509E-DE45-EECC-423AD7035D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D6E432-CC40-2E63-BF40-A038E03DB8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25105-1B27-CC1C-4ADA-01AFD88975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24202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9B28F-FD92-1776-C3B1-72342BF82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65B2DA-FC92-1479-7C97-99B23FD8F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D303B1-01E6-E68C-592B-F090AACA3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148F4-F511-E110-DE85-8FCAB4BCC9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63383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80807-D824-B848-394C-515D0A267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E13EB3-D12B-33CC-30A8-96B8261854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5DFEC4-028E-066F-962F-38D58DF2AE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41C63-BCF0-0866-A12A-3EEA39B265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210609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83C92-A01F-38C4-85DC-A5659059A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CFCB4A-4A80-A4B7-C655-47932EA0B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12EFC5-00E4-93A1-88B8-A99464AD2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97E52-6B9E-DED8-9C62-09607EB1BB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014460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1EA4D-9C8C-B04A-9A37-052ADA6D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1FB603-98B9-20C2-1F76-733CDED7FB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53CF19-0754-6196-B6E5-EE7A3BD934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907C2-6720-F216-6B25-F03784E7C5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213573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6ED40-8031-27EB-6777-77346A932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BD4A5E-0B93-5348-81DD-1FA791C842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D32C52-0943-D424-B590-BC97B2564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7B95D-480E-3364-1892-AC8C831CDF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885354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B513A-CBF6-D50B-FF63-61F8A68E2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EF1106-7E13-1047-9A12-5C9C18E69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F4B807-AE28-7F27-5117-A3E8A6A74C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5C144-0BC6-FAFE-2BE7-543075D9D3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075130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66A48-5212-25BE-4BB4-5CE16D613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77B589-A0E3-123B-21D9-CF63CAE2B9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AC57F7-E904-462B-5B8D-77AA7DE5E5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91778D-859F-9B2C-7E4A-A892BC3530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965308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4D547-40B8-F781-D333-7A745E48E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C9DABE-35A0-586A-863B-6227656252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0FBFF3-4780-4096-36B4-F96F0B2ACC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FC1E1-3B62-1F26-072F-38445221F0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18441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CCE1B-8196-81DF-BAFC-635906A58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51263F-C4AC-7198-5A9F-C77611F4F8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3A5B88-6365-7F42-695D-478FF9090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C1EF4-68A0-4128-8BCB-1C43322F06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780170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15749-839D-7F9C-E4D9-73D75BD98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85C27F-C1FA-019D-5096-0809B31CBB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D38C44-E34B-31B0-C950-F39573032D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7044A-10F2-EE8C-6B8C-5E6F46D885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65288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DC924-09FD-E0BC-E9C4-758A8AD2B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698E16-CF8E-1F37-2768-490E6E1B9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ja-JP" altLang="en-US" sz="19900" dirty="0"/>
              <a:t>文法</a:t>
            </a:r>
            <a:endParaRPr lang="en-US" sz="19900" dirty="0"/>
          </a:p>
        </p:txBody>
      </p:sp>
    </p:spTree>
    <p:extLst>
      <p:ext uri="{BB962C8B-B14F-4D97-AF65-F5344CB8AC3E}">
        <p14:creationId xmlns:p14="http://schemas.microsoft.com/office/powerpoint/2010/main" val="557741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59329-95DC-E4F4-3E8F-85A089221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729A40-FDAE-7601-81C5-546A5E497E77}"/>
              </a:ext>
            </a:extLst>
          </p:cNvPr>
          <p:cNvSpPr txBox="1"/>
          <p:nvPr/>
        </p:nvSpPr>
        <p:spPr>
          <a:xfrm>
            <a:off x="166254" y="101600"/>
            <a:ext cx="11534679" cy="107721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576263" indent="-576263"/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1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．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Menyatakan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memanfaatkan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kesempatan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melakukan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A, ‘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Sekalian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’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melakukan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B</a:t>
            </a:r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734C66-88D1-EFBA-7C69-D236148EF226}"/>
              </a:ext>
            </a:extLst>
          </p:cNvPr>
          <p:cNvSpPr txBox="1"/>
          <p:nvPr/>
        </p:nvSpPr>
        <p:spPr>
          <a:xfrm>
            <a:off x="311727" y="1659467"/>
            <a:ext cx="4548140" cy="156966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576263" indent="-576263"/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Kt.Kerja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Kamus 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（</a:t>
            </a:r>
            <a:r>
              <a:rPr lang="ja-JP" altLang="en-US" sz="3200" b="1" dirty="0">
                <a:solidFill>
                  <a:srgbClr val="00B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る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）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6263" indent="-576263"/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Kt.Kerja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Lampau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（</a:t>
            </a:r>
            <a:r>
              <a:rPr lang="ja-JP" altLang="en-US" sz="3200" b="1" dirty="0">
                <a:solidFill>
                  <a:srgbClr val="00B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た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）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6263" indent="-576263"/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Kt.Benda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+ </a:t>
            </a:r>
            <a:r>
              <a:rPr lang="ja-JP" altLang="en-US" sz="3200" b="1" dirty="0">
                <a:solidFill>
                  <a:srgbClr val="00B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の</a:t>
            </a:r>
            <a:endParaRPr lang="en-US" sz="3200" b="1" dirty="0">
              <a:solidFill>
                <a:srgbClr val="00B05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8EECB2F-2CAE-C368-B181-B3D80C22E6A3}"/>
              </a:ext>
            </a:extLst>
          </p:cNvPr>
          <p:cNvCxnSpPr>
            <a:stCxn id="7" idx="3"/>
          </p:cNvCxnSpPr>
          <p:nvPr/>
        </p:nvCxnSpPr>
        <p:spPr>
          <a:xfrm>
            <a:off x="4859867" y="2444297"/>
            <a:ext cx="1896533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65E10A2-3E88-5897-895A-BCEA25825D5A}"/>
              </a:ext>
            </a:extLst>
          </p:cNvPr>
          <p:cNvSpPr txBox="1"/>
          <p:nvPr/>
        </p:nvSpPr>
        <p:spPr>
          <a:xfrm>
            <a:off x="6949594" y="1859522"/>
            <a:ext cx="4548140" cy="1077218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576263" indent="-576263"/>
            <a:r>
              <a:rPr lang="ja-JP" alt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ついでに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、～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6263" indent="-576263"/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Mumpung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…/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Sekalian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…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F9BAB4-434F-8A0B-D2A9-7B7818A31A88}"/>
              </a:ext>
            </a:extLst>
          </p:cNvPr>
          <p:cNvSpPr txBox="1"/>
          <p:nvPr/>
        </p:nvSpPr>
        <p:spPr>
          <a:xfrm>
            <a:off x="238990" y="3721570"/>
            <a:ext cx="11389206" cy="2062103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576263" indent="-576263"/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ながら　：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Melakukan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dua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kegiatan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bersamaan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6263" indent="-576263"/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ついでに：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melakukan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kegiatan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secara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bersamaan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6263" indent="-576263"/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6263" indent="-576263"/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ついでに　：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Sekalian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A,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melakukan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B</a:t>
            </a:r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23099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612CA-921B-82E2-43FE-0BDD5D6C2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A3E005-2298-47FF-94AA-98016CBA6893}"/>
              </a:ext>
            </a:extLst>
          </p:cNvPr>
          <p:cNvSpPr txBox="1"/>
          <p:nvPr/>
        </p:nvSpPr>
        <p:spPr>
          <a:xfrm>
            <a:off x="166254" y="101600"/>
            <a:ext cx="11534679" cy="107721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576263" indent="-576263"/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1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．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Menyatakan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memanfaatkan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kesempatan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melakukan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A, ‘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Sekalian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’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melakukan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B</a:t>
            </a:r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E8C20A-D2C2-83AC-2260-6AB5BB758437}"/>
              </a:ext>
            </a:extLst>
          </p:cNvPr>
          <p:cNvSpPr txBox="1"/>
          <p:nvPr/>
        </p:nvSpPr>
        <p:spPr>
          <a:xfrm>
            <a:off x="166254" y="1534348"/>
            <a:ext cx="11389206" cy="5016758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576263" indent="-576263"/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例文：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6263" indent="-576263"/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6263" indent="-576263"/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散歩</a:t>
            </a:r>
            <a:r>
              <a:rPr lang="ja-JP" altLang="en-US" sz="3200" b="1" dirty="0">
                <a:solidFill>
                  <a:srgbClr val="00B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の</a:t>
            </a:r>
            <a:r>
              <a:rPr lang="ja-JP" alt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ついでに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、この手紙をだしてくれませんか。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6263" indent="-576263"/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32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Sekalian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jalan-jalan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tolong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kirimkan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surat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576263" indent="-576263"/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6263" indent="-576263"/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郵便局へ</a:t>
            </a:r>
            <a:r>
              <a:rPr lang="ja-JP" altLang="en-US" sz="3200" b="1" dirty="0">
                <a:solidFill>
                  <a:srgbClr val="00B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行った</a:t>
            </a:r>
            <a:r>
              <a:rPr lang="ja-JP" alt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ついでに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、はがきを買ってきた。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6263" indent="-576263"/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32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Sekalian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pergi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kantor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pos,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membeli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kartu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pos.</a:t>
            </a:r>
          </a:p>
          <a:p>
            <a:pPr marL="576263" indent="-576263"/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6263" indent="-576263"/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料理</a:t>
            </a:r>
            <a:r>
              <a:rPr lang="ja-JP" altLang="en-US" sz="3200" b="1" dirty="0">
                <a:solidFill>
                  <a:srgbClr val="00B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する</a:t>
            </a:r>
            <a:r>
              <a:rPr lang="ja-JP" alt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ついでに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、弁当を作ります。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6263" indent="-576263"/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32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Mumpung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masak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aku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membuat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bekal</a:t>
            </a:r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7794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A9338-54C3-6D71-4ABD-047F1AC38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2DC17E-D2A2-D7FB-E6C6-45853830A1F8}"/>
              </a:ext>
            </a:extLst>
          </p:cNvPr>
          <p:cNvSpPr txBox="1"/>
          <p:nvPr/>
        </p:nvSpPr>
        <p:spPr>
          <a:xfrm>
            <a:off x="166254" y="101600"/>
            <a:ext cx="11534679" cy="58477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576263" indent="-576263"/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2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．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Menyatakan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“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Setiap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kali”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880644-A8BE-A2C1-EA76-3C4AE0334B88}"/>
              </a:ext>
            </a:extLst>
          </p:cNvPr>
          <p:cNvSpPr txBox="1"/>
          <p:nvPr/>
        </p:nvSpPr>
        <p:spPr>
          <a:xfrm>
            <a:off x="311727" y="1659467"/>
            <a:ext cx="4548140" cy="1077218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576263" indent="-576263"/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Kt.Kerja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Kamus 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（</a:t>
            </a:r>
            <a:r>
              <a:rPr lang="ja-JP" altLang="en-US" sz="3200" b="1" dirty="0">
                <a:solidFill>
                  <a:srgbClr val="00B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る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）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6263" indent="-576263"/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Kt.Benda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+ </a:t>
            </a:r>
            <a:r>
              <a:rPr lang="ja-JP" altLang="en-US" sz="3200" b="1" dirty="0">
                <a:solidFill>
                  <a:srgbClr val="00B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の</a:t>
            </a:r>
            <a:endParaRPr lang="en-US" sz="3200" b="1" dirty="0">
              <a:solidFill>
                <a:srgbClr val="00B05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E78E157-6C51-FECB-2A51-28B8C15C788B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4859867" y="2198076"/>
            <a:ext cx="196426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C5E41A5-55F9-F0CD-DFE7-67413EF52EAB}"/>
              </a:ext>
            </a:extLst>
          </p:cNvPr>
          <p:cNvSpPr txBox="1"/>
          <p:nvPr/>
        </p:nvSpPr>
        <p:spPr>
          <a:xfrm>
            <a:off x="6949594" y="1671260"/>
            <a:ext cx="4548140" cy="156966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576263" indent="-576263"/>
            <a:r>
              <a:rPr lang="ja-JP" alt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たびに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、～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Setiap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kali… 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selalu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terjadi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…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F4E93E-3727-1F06-C0EA-F4A6B9917A74}"/>
              </a:ext>
            </a:extLst>
          </p:cNvPr>
          <p:cNvSpPr txBox="1"/>
          <p:nvPr/>
        </p:nvSpPr>
        <p:spPr>
          <a:xfrm>
            <a:off x="238990" y="3429000"/>
            <a:ext cx="11389206" cy="3108543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tabLst>
                <a:tab pos="338138" algn="l"/>
              </a:tabLst>
            </a:pPr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たびに　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：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Menyatakan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setiap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kali A,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selalu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B </a:t>
            </a:r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terjadi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bertambah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そのたびに～：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Setiap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kali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itu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terjadi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…,B juga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terjadi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406400" indent="-406400">
              <a:buFont typeface="Arial" panose="020B0604020202020204" pitchFamily="34" charset="0"/>
              <a:buChar char="•"/>
              <a:tabLst>
                <a:tab pos="1422400" algn="l"/>
              </a:tabLst>
            </a:pPr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たびに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digunakan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untuk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kegiatan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bersifat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rutinitas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Seperti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「起きるたびに、顔をあらいます。」</a:t>
            </a:r>
            <a:endParaRPr lang="en-US" altLang="ja-JP" sz="28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06400" indent="-406400">
              <a:buFont typeface="Arial" panose="020B0604020202020204" pitchFamily="34" charset="0"/>
              <a:buChar char="•"/>
              <a:tabLst>
                <a:tab pos="1422400" algn="l"/>
              </a:tabLst>
            </a:pPr>
            <a:r>
              <a:rPr 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 </a:t>
            </a:r>
            <a:r>
              <a:rPr lang="en-US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untuk</a:t>
            </a:r>
            <a:r>
              <a:rPr 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hal</a:t>
            </a:r>
            <a:r>
              <a:rPr 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</a:t>
            </a:r>
            <a:r>
              <a:rPr lang="en-US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otomatis</a:t>
            </a:r>
            <a:r>
              <a:rPr 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terjadi</a:t>
            </a:r>
            <a:r>
              <a:rPr 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secara</a:t>
            </a:r>
            <a:r>
              <a:rPr 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objektif</a:t>
            </a:r>
            <a:r>
              <a:rPr 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seperti</a:t>
            </a:r>
            <a:r>
              <a:rPr 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「夏になるたびに、暑くなります。」</a:t>
            </a:r>
            <a:endParaRPr lang="en-US" sz="28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04446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A403D-78A9-7C87-F8E0-75F1390FD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0DD46A6-E124-34EB-FFC2-27FEA1010E50}"/>
              </a:ext>
            </a:extLst>
          </p:cNvPr>
          <p:cNvSpPr txBox="1"/>
          <p:nvPr/>
        </p:nvSpPr>
        <p:spPr>
          <a:xfrm>
            <a:off x="166254" y="1111014"/>
            <a:ext cx="11389206" cy="532453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576263" indent="-576263"/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例文：</a:t>
            </a:r>
            <a:endParaRPr lang="en-US" altLang="ja-JP" sz="28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6263" indent="-576263"/>
            <a:endParaRPr lang="en-US" sz="24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6263" indent="-576263"/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母は買い物</a:t>
            </a:r>
            <a:r>
              <a:rPr lang="ja-JP" altLang="en-US" sz="2400" b="1" dirty="0">
                <a:solidFill>
                  <a:srgbClr val="00B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の</a:t>
            </a:r>
            <a:r>
              <a:rPr lang="ja-JP" altLang="en-US" sz="24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たびに</a:t>
            </a: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、タクシーに乗る。</a:t>
            </a:r>
            <a:endParaRPr lang="en-US" altLang="ja-JP" sz="24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6263" indent="-576263"/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4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Setiap</a:t>
            </a:r>
            <a:r>
              <a:rPr lang="en-US" altLang="ja-JP" sz="24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kali </a:t>
            </a:r>
            <a:r>
              <a:rPr lang="en-US" altLang="ja-JP" sz="24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ibu</a:t>
            </a:r>
            <a:r>
              <a:rPr lang="en-US" altLang="ja-JP" sz="24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belanja</a:t>
            </a:r>
            <a:r>
              <a:rPr lang="en-US" altLang="ja-JP" sz="24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(</a:t>
            </a:r>
            <a:r>
              <a:rPr lang="en-US" altLang="ja-JP" sz="24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dia</a:t>
            </a:r>
            <a:r>
              <a:rPr lang="en-US" altLang="ja-JP" sz="24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selalu</a:t>
            </a:r>
            <a:r>
              <a:rPr lang="en-US" altLang="ja-JP" sz="24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 naik taxi.</a:t>
            </a:r>
          </a:p>
          <a:p>
            <a:pPr marL="576263" indent="-576263"/>
            <a:endParaRPr lang="en-US" sz="24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6263" indent="-576263"/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この曲を</a:t>
            </a:r>
            <a:r>
              <a:rPr lang="ja-JP" altLang="en-US" sz="2400" b="1" dirty="0">
                <a:solidFill>
                  <a:srgbClr val="00B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聞く</a:t>
            </a:r>
            <a:r>
              <a:rPr lang="ja-JP" altLang="en-US" sz="24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たびに</a:t>
            </a: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、ふるさとを思い出す。</a:t>
            </a:r>
            <a:endParaRPr lang="en-US" altLang="ja-JP" sz="24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693738" indent="-693738"/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4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Setiap</a:t>
            </a:r>
            <a:r>
              <a:rPr lang="en-US" altLang="ja-JP" sz="24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kali </a:t>
            </a:r>
            <a:r>
              <a:rPr lang="en-US" altLang="ja-JP" sz="24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mendengar</a:t>
            </a:r>
            <a:r>
              <a:rPr lang="en-US" altLang="ja-JP" sz="24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lagu</a:t>
            </a:r>
            <a:r>
              <a:rPr lang="en-US" altLang="ja-JP" sz="24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altLang="ja-JP" sz="24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4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selalu</a:t>
            </a:r>
            <a:r>
              <a:rPr lang="en-US" altLang="ja-JP" sz="24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teringat</a:t>
            </a:r>
            <a:r>
              <a:rPr lang="en-US" altLang="ja-JP" sz="24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tempat</a:t>
            </a:r>
            <a:r>
              <a:rPr lang="en-US" altLang="ja-JP" sz="24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kelahiran</a:t>
            </a:r>
            <a:r>
              <a:rPr lang="en-US" altLang="ja-JP" sz="24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576263" indent="-576263"/>
            <a:endParaRPr lang="en-US" sz="24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6263" indent="-576263"/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人はよく失敗しますが、</a:t>
            </a:r>
            <a:r>
              <a:rPr lang="ja-JP" altLang="en-US" sz="2400" b="1" dirty="0">
                <a:solidFill>
                  <a:srgbClr val="00B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その</a:t>
            </a:r>
            <a:r>
              <a:rPr lang="ja-JP" altLang="en-US" sz="24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たびに</a:t>
            </a:r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せいちょうします。</a:t>
            </a:r>
            <a:endParaRPr lang="en-US" altLang="ja-JP" sz="24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693738" indent="-576263"/>
            <a:r>
              <a:rPr lang="ja-JP" alt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en-US" altLang="ja-JP" sz="24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Orang </a:t>
            </a:r>
            <a:r>
              <a:rPr lang="en-US" altLang="ja-JP" sz="24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sering</a:t>
            </a:r>
            <a:r>
              <a:rPr lang="en-US" altLang="ja-JP" sz="24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gagal</a:t>
            </a:r>
            <a:r>
              <a:rPr lang="en-US" altLang="ja-JP" sz="24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4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tapi</a:t>
            </a:r>
            <a:r>
              <a:rPr lang="en-US" altLang="ja-JP" sz="24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setiap</a:t>
            </a:r>
            <a:r>
              <a:rPr lang="en-US" altLang="ja-JP" sz="24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kali </a:t>
            </a:r>
            <a:r>
              <a:rPr lang="en-US" altLang="ja-JP" sz="24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itu</a:t>
            </a:r>
            <a:r>
              <a:rPr lang="en-US" altLang="ja-JP" sz="24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terjadi</a:t>
            </a:r>
            <a:r>
              <a:rPr lang="en-US" altLang="ja-JP" sz="24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pasti</a:t>
            </a:r>
            <a:r>
              <a:rPr lang="en-US" altLang="ja-JP" sz="24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akan</a:t>
            </a:r>
            <a:r>
              <a:rPr lang="en-US" altLang="ja-JP" sz="24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berkembang</a:t>
            </a:r>
            <a:r>
              <a:rPr lang="en-US" altLang="ja-JP" sz="24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693738" indent="-576263"/>
            <a:endParaRPr lang="en-US" sz="2400" b="1" dirty="0">
              <a:solidFill>
                <a:srgbClr val="00000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693738" indent="-576263"/>
            <a:r>
              <a:rPr lang="ja-JP" altLang="en-US" sz="24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</a:t>
            </a:r>
            <a:r>
              <a:rPr lang="ja-JP" altLang="en-US" sz="2400" b="1" dirty="0">
                <a:solidFill>
                  <a:srgbClr val="00B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会う</a:t>
            </a:r>
            <a:r>
              <a:rPr lang="ja-JP" altLang="en-US" sz="24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たびに</a:t>
            </a:r>
            <a:r>
              <a:rPr lang="ja-JP" altLang="en-US" sz="24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、きれいになっていくね。</a:t>
            </a:r>
            <a:endParaRPr lang="en-US" altLang="ja-JP" sz="2400" b="1" dirty="0">
              <a:solidFill>
                <a:srgbClr val="00000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693738" indent="-576263"/>
            <a:r>
              <a:rPr lang="ja-JP" altLang="en-US" sz="24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4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Setiap</a:t>
            </a:r>
            <a:r>
              <a:rPr lang="en-US" altLang="ja-JP" sz="24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kali </a:t>
            </a:r>
            <a:r>
              <a:rPr lang="en-US" altLang="ja-JP" sz="24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ketemu</a:t>
            </a:r>
            <a:r>
              <a:rPr lang="en-US" altLang="ja-JP" sz="24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4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semakin</a:t>
            </a:r>
            <a:r>
              <a:rPr lang="en-US" altLang="ja-JP" sz="24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cantik</a:t>
            </a:r>
            <a:r>
              <a:rPr lang="en-US" altLang="ja-JP" sz="24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ya</a:t>
            </a:r>
            <a:r>
              <a:rPr lang="en-US" altLang="ja-JP" sz="24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  <a:endParaRPr lang="en-US" sz="2400" b="1" dirty="0">
              <a:solidFill>
                <a:srgbClr val="00000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CE2E7C-8357-E53A-B105-B418582016D6}"/>
              </a:ext>
            </a:extLst>
          </p:cNvPr>
          <p:cNvSpPr txBox="1"/>
          <p:nvPr/>
        </p:nvSpPr>
        <p:spPr>
          <a:xfrm>
            <a:off x="166254" y="239161"/>
            <a:ext cx="11534679" cy="58477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576263" indent="-576263"/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2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．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Menyatakan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“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Setiap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kali”</a:t>
            </a:r>
          </a:p>
        </p:txBody>
      </p:sp>
    </p:spTree>
    <p:extLst>
      <p:ext uri="{BB962C8B-B14F-4D97-AF65-F5344CB8AC3E}">
        <p14:creationId xmlns:p14="http://schemas.microsoft.com/office/powerpoint/2010/main" val="3179784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81EC2-9211-7709-E2F1-CC4FDE175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720141-A9FE-7D76-5BD3-967D6FBCFDFB}"/>
              </a:ext>
            </a:extLst>
          </p:cNvPr>
          <p:cNvSpPr txBox="1"/>
          <p:nvPr/>
        </p:nvSpPr>
        <p:spPr>
          <a:xfrm>
            <a:off x="166254" y="101600"/>
            <a:ext cx="11534679" cy="107721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576263" indent="-576263"/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3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．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Menyatakan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segera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setelah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melakukan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sesuatu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tiba-tiba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terjadi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hal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luar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dugaan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4EED3ED-81E2-BCC0-D228-CE19824BE3DF}"/>
              </a:ext>
            </a:extLst>
          </p:cNvPr>
          <p:cNvGrpSpPr/>
          <p:nvPr/>
        </p:nvGrpSpPr>
        <p:grpSpPr>
          <a:xfrm>
            <a:off x="311727" y="2287666"/>
            <a:ext cx="6637867" cy="584775"/>
            <a:chOff x="311727" y="2011521"/>
            <a:chExt cx="6637867" cy="58477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A56020-C145-76C5-8312-6E4E9B6AE032}"/>
                </a:ext>
              </a:extLst>
            </p:cNvPr>
            <p:cNvSpPr txBox="1"/>
            <p:nvPr/>
          </p:nvSpPr>
          <p:spPr>
            <a:xfrm>
              <a:off x="311727" y="2011521"/>
              <a:ext cx="4930680" cy="584775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576263" indent="-576263"/>
              <a:r>
                <a:rPr lang="en-US" sz="3200" b="1" dirty="0" err="1">
                  <a:latin typeface="UD Digi Kyokasho N" panose="02020400000000000000" pitchFamily="17" charset="-128"/>
                  <a:ea typeface="UD Digi Kyokasho N" panose="02020400000000000000" pitchFamily="17" charset="-128"/>
                </a:rPr>
                <a:t>Kt.Kerja</a:t>
              </a:r>
              <a:r>
                <a:rPr lang="en-US" sz="3200" b="1" dirty="0">
                  <a:latin typeface="UD Digi Kyokasho N" panose="02020400000000000000" pitchFamily="17" charset="-128"/>
                  <a:ea typeface="UD Digi Kyokasho N" panose="02020400000000000000" pitchFamily="17" charset="-128"/>
                </a:rPr>
                <a:t> </a:t>
              </a:r>
              <a:r>
                <a:rPr lang="en-US" sz="3200" b="1" dirty="0" err="1">
                  <a:latin typeface="UD Digi Kyokasho N" panose="02020400000000000000" pitchFamily="17" charset="-128"/>
                  <a:ea typeface="UD Digi Kyokasho N" panose="02020400000000000000" pitchFamily="17" charset="-128"/>
                </a:rPr>
                <a:t>Lampau</a:t>
              </a:r>
              <a:r>
                <a:rPr lang="en-US" sz="3200" b="1" dirty="0">
                  <a:latin typeface="UD Digi Kyokasho N" panose="02020400000000000000" pitchFamily="17" charset="-128"/>
                  <a:ea typeface="UD Digi Kyokasho N" panose="02020400000000000000" pitchFamily="17" charset="-128"/>
                </a:rPr>
                <a:t> </a:t>
              </a:r>
              <a:r>
                <a:rPr lang="ja-JP" altLang="en-US" sz="3200" b="1" dirty="0">
                  <a:latin typeface="UD Digi Kyokasho N" panose="02020400000000000000" pitchFamily="17" charset="-128"/>
                  <a:ea typeface="UD Digi Kyokasho N" panose="02020400000000000000" pitchFamily="17" charset="-128"/>
                </a:rPr>
                <a:t>（た）</a:t>
              </a:r>
              <a:endPara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3BB44E9-EE43-0BAE-9F78-EE163E652127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5242407" y="2303909"/>
              <a:ext cx="1707187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3C0E31D-7D35-BF15-1147-D12A8E8969CD}"/>
              </a:ext>
            </a:extLst>
          </p:cNvPr>
          <p:cNvSpPr txBox="1"/>
          <p:nvPr/>
        </p:nvSpPr>
        <p:spPr>
          <a:xfrm>
            <a:off x="6949594" y="1671260"/>
            <a:ext cx="4548140" cy="193899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576263" indent="-576263"/>
            <a:r>
              <a:rPr lang="ja-JP" altLang="en-US" sz="36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とたんに</a:t>
            </a:r>
            <a:r>
              <a:rPr lang="ja-JP" altLang="en-US" sz="36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、～</a:t>
            </a:r>
            <a:endParaRPr lang="en-US" altLang="ja-JP" sz="36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6263" indent="-576263"/>
            <a:r>
              <a:rPr lang="ja-JP" altLang="en-US" sz="36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とたん、～</a:t>
            </a:r>
            <a:endParaRPr lang="en-US" altLang="ja-JP" sz="36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Segera</a:t>
            </a:r>
            <a:r>
              <a:rPr 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setelah</a:t>
            </a:r>
            <a:r>
              <a:rPr 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…</a:t>
            </a:r>
            <a:r>
              <a:rPr lang="en-US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Langsung</a:t>
            </a:r>
            <a:r>
              <a:rPr 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…</a:t>
            </a:r>
          </a:p>
          <a:p>
            <a:r>
              <a:rPr lang="en-US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Begitu</a:t>
            </a:r>
            <a:r>
              <a:rPr 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A, </a:t>
            </a:r>
            <a:r>
              <a:rPr lang="en-US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langsung</a:t>
            </a:r>
            <a:r>
              <a:rPr 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B…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26022E-10DB-0C72-A7DA-69148122591A}"/>
              </a:ext>
            </a:extLst>
          </p:cNvPr>
          <p:cNvSpPr txBox="1"/>
          <p:nvPr/>
        </p:nvSpPr>
        <p:spPr>
          <a:xfrm>
            <a:off x="166254" y="4072216"/>
            <a:ext cx="11389206" cy="138499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tabLst>
                <a:tab pos="338138" algn="l"/>
              </a:tabLst>
            </a:pPr>
            <a:r>
              <a:rPr lang="en-US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Kebanyakan</a:t>
            </a:r>
            <a:r>
              <a:rPr 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hal</a:t>
            </a:r>
            <a:r>
              <a:rPr 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</a:t>
            </a:r>
            <a:r>
              <a:rPr lang="en-US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terjadi</a:t>
            </a:r>
            <a:r>
              <a:rPr 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itu</a:t>
            </a:r>
            <a:r>
              <a:rPr 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</a:t>
            </a:r>
            <a:r>
              <a:rPr 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diinginkan</a:t>
            </a:r>
            <a:r>
              <a:rPr 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  <a:tabLst>
                <a:tab pos="338138" algn="l"/>
              </a:tabLst>
            </a:pPr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そのとたん、～　：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Seketika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itu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juga,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Langsung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….</a:t>
            </a:r>
          </a:p>
          <a:p>
            <a:pPr marL="457200" indent="-457200">
              <a:buFont typeface="Arial" panose="020B0604020202020204" pitchFamily="34" charset="0"/>
              <a:buChar char="•"/>
              <a:tabLst>
                <a:tab pos="338138" algn="l"/>
              </a:tabLst>
            </a:pPr>
            <a:r>
              <a:rPr lang="en-US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Jarang</a:t>
            </a:r>
            <a:r>
              <a:rPr 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menggunakan</a:t>
            </a:r>
            <a:r>
              <a:rPr 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partikel</a:t>
            </a:r>
            <a:r>
              <a:rPr 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「に」</a:t>
            </a:r>
            <a:endParaRPr lang="en-US" sz="28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04758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E252D-38FA-5C85-B8A8-2912ADF00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1E387B9-AF53-3504-640D-F78B177D1F5F}"/>
              </a:ext>
            </a:extLst>
          </p:cNvPr>
          <p:cNvSpPr txBox="1"/>
          <p:nvPr/>
        </p:nvSpPr>
        <p:spPr>
          <a:xfrm>
            <a:off x="238990" y="1364132"/>
            <a:ext cx="11389206" cy="532453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576263" indent="-576263"/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例文：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6263" indent="-576263"/>
            <a:endParaRPr lang="en-US" sz="28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6263" indent="-576263"/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窓を</a:t>
            </a:r>
            <a:r>
              <a:rPr lang="ja-JP" altLang="en-US" sz="2800" b="1" dirty="0">
                <a:solidFill>
                  <a:srgbClr val="00B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開けた</a:t>
            </a:r>
            <a:r>
              <a:rPr lang="ja-JP" altLang="en-US" sz="28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とたん</a:t>
            </a:r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、強い風が入ってきた。</a:t>
            </a:r>
            <a:endParaRPr lang="en-US" altLang="ja-JP" sz="28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6263" indent="-576263"/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8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Segera</a:t>
            </a:r>
            <a:r>
              <a:rPr lang="en-US" altLang="ja-JP" sz="28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setelah</a:t>
            </a:r>
            <a:r>
              <a:rPr lang="en-US" altLang="ja-JP" sz="28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membuka</a:t>
            </a:r>
            <a:r>
              <a:rPr lang="en-US" altLang="ja-JP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jendela</a:t>
            </a:r>
            <a:r>
              <a:rPr lang="en-US" altLang="ja-JP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8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tiba-tiba</a:t>
            </a:r>
            <a:r>
              <a:rPr lang="en-US" altLang="ja-JP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angin</a:t>
            </a:r>
            <a:r>
              <a:rPr lang="en-US" altLang="ja-JP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kencang</a:t>
            </a:r>
            <a:r>
              <a:rPr lang="en-US" altLang="ja-JP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masuk</a:t>
            </a:r>
            <a:r>
              <a:rPr lang="en-US" altLang="ja-JP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576263" indent="-576263"/>
            <a:endParaRPr lang="en-US" sz="28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6263" indent="-576263"/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お酒を</a:t>
            </a:r>
            <a:r>
              <a:rPr lang="ja-JP" altLang="en-US" sz="2800" b="1" dirty="0">
                <a:solidFill>
                  <a:srgbClr val="00B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飲んだ</a:t>
            </a:r>
            <a:r>
              <a:rPr lang="ja-JP" altLang="en-US" sz="28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とたん</a:t>
            </a:r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、顔が赤くなった。</a:t>
            </a:r>
            <a:endParaRPr lang="en-US" altLang="ja-JP" sz="28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693738" indent="-693738"/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8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Begitu</a:t>
            </a:r>
            <a:r>
              <a:rPr lang="en-US" altLang="ja-JP" sz="28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minum</a:t>
            </a:r>
            <a:r>
              <a:rPr lang="en-US" altLang="ja-JP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sake, </a:t>
            </a:r>
            <a:r>
              <a:rPr lang="en-US" altLang="ja-JP" sz="28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wajahku</a:t>
            </a:r>
            <a:r>
              <a:rPr lang="en-US" altLang="ja-JP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langsung</a:t>
            </a:r>
            <a:r>
              <a:rPr lang="en-US" altLang="ja-JP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merah</a:t>
            </a:r>
            <a:r>
              <a:rPr lang="en-US" altLang="ja-JP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693738" indent="-693738"/>
            <a:endParaRPr lang="en-US" sz="28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6263" indent="-576263"/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彼はドアを開けました。</a:t>
            </a:r>
            <a:r>
              <a:rPr lang="ja-JP" altLang="en-US" sz="2800" b="1" dirty="0">
                <a:solidFill>
                  <a:srgbClr val="00B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その</a:t>
            </a:r>
            <a:r>
              <a:rPr lang="ja-JP" altLang="en-US" sz="28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とたん</a:t>
            </a:r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、ねこが飛び出してきた。</a:t>
            </a:r>
            <a:endParaRPr lang="en-US" altLang="ja-JP" sz="28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693738" indent="-576263"/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en-US" altLang="ja-JP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Dia </a:t>
            </a:r>
            <a:r>
              <a:rPr lang="en-US" altLang="ja-JP" sz="28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membuka</a:t>
            </a:r>
            <a:r>
              <a:rPr lang="en-US" altLang="ja-JP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pintu</a:t>
            </a:r>
            <a:r>
              <a:rPr lang="en-US" altLang="ja-JP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 Saat </a:t>
            </a:r>
            <a:r>
              <a:rPr lang="en-US" altLang="ja-JP" sz="28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itu</a:t>
            </a:r>
            <a:r>
              <a:rPr lang="en-US" altLang="ja-JP" sz="28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juga </a:t>
            </a:r>
            <a:r>
              <a:rPr lang="en-US" altLang="ja-JP" sz="28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tiba-tiba</a:t>
            </a:r>
            <a:r>
              <a:rPr lang="en-US" altLang="ja-JP" sz="28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kucing</a:t>
            </a:r>
            <a:r>
              <a:rPr lang="en-US" altLang="ja-JP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meloncat</a:t>
            </a:r>
            <a:r>
              <a:rPr lang="en-US" altLang="ja-JP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</a:t>
            </a:r>
            <a:r>
              <a:rPr lang="en-US" altLang="ja-JP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luar</a:t>
            </a:r>
            <a:r>
              <a:rPr lang="en-US" altLang="ja-JP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8109CC-4B30-F33F-982E-5CC0802F0694}"/>
              </a:ext>
            </a:extLst>
          </p:cNvPr>
          <p:cNvSpPr txBox="1"/>
          <p:nvPr/>
        </p:nvSpPr>
        <p:spPr>
          <a:xfrm>
            <a:off x="166254" y="169333"/>
            <a:ext cx="11534679" cy="107721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576263" indent="-576263"/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3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．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Menyatakan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segera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setelah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melakukan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sesuatu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tiba-tiba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terjadi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hal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luar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dugaan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6365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4D696-BE4B-DA92-E71C-B13A80C01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730EDD-C19B-A9E1-AF5C-C76308432151}"/>
              </a:ext>
            </a:extLst>
          </p:cNvPr>
          <p:cNvSpPr txBox="1"/>
          <p:nvPr/>
        </p:nvSpPr>
        <p:spPr>
          <a:xfrm>
            <a:off x="166254" y="101600"/>
            <a:ext cx="11534679" cy="107721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576263" indent="-576263"/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4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．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Menunjukkan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kejadian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diharapkan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Tengah-Tengah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kegiatan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CD3618A-2A69-FB0B-306F-73EE1368143C}"/>
              </a:ext>
            </a:extLst>
          </p:cNvPr>
          <p:cNvGrpSpPr/>
          <p:nvPr/>
        </p:nvGrpSpPr>
        <p:grpSpPr>
          <a:xfrm>
            <a:off x="447194" y="2879529"/>
            <a:ext cx="6173740" cy="1077218"/>
            <a:chOff x="311727" y="1810763"/>
            <a:chExt cx="6173740" cy="107721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72754B5-6AEA-FB4D-D5FA-C407E1757D99}"/>
                </a:ext>
              </a:extLst>
            </p:cNvPr>
            <p:cNvSpPr txBox="1"/>
            <p:nvPr/>
          </p:nvSpPr>
          <p:spPr>
            <a:xfrm>
              <a:off x="311727" y="1810763"/>
              <a:ext cx="4930680" cy="1077218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576263" indent="-576263"/>
              <a:r>
                <a:rPr lang="en-US" sz="3200" b="1" dirty="0" err="1">
                  <a:latin typeface="UD Digi Kyokasho N" panose="02020400000000000000" pitchFamily="17" charset="-128"/>
                  <a:ea typeface="UD Digi Kyokasho N" panose="02020400000000000000" pitchFamily="17" charset="-128"/>
                </a:rPr>
                <a:t>Kt.Kerja</a:t>
              </a:r>
              <a:r>
                <a:rPr lang="en-US" sz="3200" b="1" dirty="0">
                  <a:latin typeface="UD Digi Kyokasho N" panose="02020400000000000000" pitchFamily="17" charset="-128"/>
                  <a:ea typeface="UD Digi Kyokasho N" panose="02020400000000000000" pitchFamily="17" charset="-128"/>
                </a:rPr>
                <a:t> </a:t>
              </a:r>
              <a:r>
                <a:rPr lang="ja-JP" altLang="en-US" sz="3200" b="1" dirty="0">
                  <a:latin typeface="UD Digi Kyokasho N" panose="02020400000000000000" pitchFamily="17" charset="-128"/>
                  <a:ea typeface="UD Digi Kyokasho N" panose="02020400000000000000" pitchFamily="17" charset="-128"/>
                </a:rPr>
                <a:t>（</a:t>
              </a:r>
              <a:r>
                <a:rPr lang="ja-JP" altLang="en-US" sz="3200" b="1" dirty="0">
                  <a:solidFill>
                    <a:srgbClr val="00B050"/>
                  </a:solidFill>
                  <a:latin typeface="UD Digi Kyokasho N" panose="02020400000000000000" pitchFamily="17" charset="-128"/>
                  <a:ea typeface="UD Digi Kyokasho N" panose="02020400000000000000" pitchFamily="17" charset="-128"/>
                </a:rPr>
                <a:t>ている</a:t>
              </a:r>
              <a:r>
                <a:rPr lang="ja-JP" altLang="en-US" sz="3200" b="1" dirty="0">
                  <a:latin typeface="UD Digi Kyokasho N" panose="02020400000000000000" pitchFamily="17" charset="-128"/>
                  <a:ea typeface="UD Digi Kyokasho N" panose="02020400000000000000" pitchFamily="17" charset="-128"/>
                </a:rPr>
                <a:t>）</a:t>
              </a:r>
              <a:endPara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endParaRPr>
            </a:p>
            <a:p>
              <a:pPr marL="576263" indent="-576263"/>
              <a:r>
                <a:rPr lang="en-US" altLang="ja-JP" sz="3200" b="1" dirty="0" err="1">
                  <a:latin typeface="UD Digi Kyokasho N" panose="02020400000000000000" pitchFamily="17" charset="-128"/>
                  <a:ea typeface="UD Digi Kyokasho N" panose="02020400000000000000" pitchFamily="17" charset="-128"/>
                </a:rPr>
                <a:t>Kt.Benda</a:t>
              </a:r>
              <a:r>
                <a:rPr lang="en-US" altLang="ja-JP" sz="3200" b="1" dirty="0">
                  <a:latin typeface="UD Digi Kyokasho N" panose="02020400000000000000" pitchFamily="17" charset="-128"/>
                  <a:ea typeface="UD Digi Kyokasho N" panose="02020400000000000000" pitchFamily="17" charset="-128"/>
                </a:rPr>
                <a:t>  (</a:t>
              </a:r>
              <a:r>
                <a:rPr lang="ja-JP" altLang="en-US" sz="3200" b="1" dirty="0">
                  <a:solidFill>
                    <a:srgbClr val="00B050"/>
                  </a:solidFill>
                  <a:latin typeface="UD Digi Kyokasho N" panose="02020400000000000000" pitchFamily="17" charset="-128"/>
                  <a:ea typeface="UD Digi Kyokasho N" panose="02020400000000000000" pitchFamily="17" charset="-128"/>
                </a:rPr>
                <a:t>の</a:t>
              </a:r>
              <a:r>
                <a:rPr lang="ja-JP" altLang="en-US" sz="3200" b="1" dirty="0">
                  <a:latin typeface="UD Digi Kyokasho N" panose="02020400000000000000" pitchFamily="17" charset="-128"/>
                  <a:ea typeface="UD Digi Kyokasho N" panose="02020400000000000000" pitchFamily="17" charset="-128"/>
                </a:rPr>
                <a:t>）</a:t>
              </a:r>
              <a:endPara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89D568C-7E47-0890-E7D8-6F41D62D38F8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5242407" y="2349372"/>
              <a:ext cx="1243060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91D69C3-A659-4EB5-29BE-DC9E0DE82DAA}"/>
              </a:ext>
            </a:extLst>
          </p:cNvPr>
          <p:cNvSpPr txBox="1"/>
          <p:nvPr/>
        </p:nvSpPr>
        <p:spPr>
          <a:xfrm>
            <a:off x="6807198" y="2736502"/>
            <a:ext cx="4548140" cy="138499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576263" indent="-576263"/>
            <a:r>
              <a:rPr lang="ja-JP" altLang="en-US" sz="36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さいちゅうに</a:t>
            </a:r>
            <a:r>
              <a:rPr lang="ja-JP" altLang="en-US" sz="36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、～</a:t>
            </a:r>
            <a:endParaRPr lang="en-US" altLang="ja-JP" sz="36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 Tengah-Tengah…</a:t>
            </a:r>
          </a:p>
          <a:p>
            <a:r>
              <a:rPr 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Saat </a:t>
            </a:r>
            <a:r>
              <a:rPr lang="en-US" sz="24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sedang</a:t>
            </a:r>
            <a:r>
              <a:rPr lang="en-US" sz="24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529792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62608-3EFC-FE5B-2784-68993A150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CA1BE2A0-5387-A8C2-ED83-BC728A17176B}"/>
              </a:ext>
            </a:extLst>
          </p:cNvPr>
          <p:cNvSpPr txBox="1"/>
          <p:nvPr/>
        </p:nvSpPr>
        <p:spPr>
          <a:xfrm>
            <a:off x="238990" y="1364132"/>
            <a:ext cx="11389206" cy="446276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576263" indent="-576263"/>
            <a:r>
              <a:rPr lang="ja-JP" altLang="en-US" sz="32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例文：</a:t>
            </a:r>
            <a:endParaRPr lang="en-US" altLang="ja-JP" sz="3200" b="1" dirty="0">
              <a:solidFill>
                <a:srgbClr val="00000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6263" indent="-576263"/>
            <a:endParaRPr lang="en-US" sz="2800" b="1" dirty="0">
              <a:solidFill>
                <a:srgbClr val="00000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6263" indent="-576263"/>
            <a:r>
              <a:rPr lang="ja-JP" altLang="en-US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食事</a:t>
            </a:r>
            <a:r>
              <a:rPr lang="ja-JP" altLang="en-US" sz="2800" b="1" dirty="0">
                <a:solidFill>
                  <a:srgbClr val="00B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の</a:t>
            </a:r>
            <a:r>
              <a:rPr lang="ja-JP" altLang="en-US" sz="28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さいちゅう</a:t>
            </a:r>
            <a:r>
              <a:rPr lang="ja-JP" altLang="en-US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におきゃくさんが来た。</a:t>
            </a:r>
            <a:endParaRPr lang="en-US" altLang="ja-JP" sz="2800" b="1" dirty="0">
              <a:solidFill>
                <a:srgbClr val="00000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6263" indent="-576263"/>
            <a:r>
              <a:rPr lang="ja-JP" altLang="en-US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8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Pelanggan</a:t>
            </a:r>
            <a:r>
              <a:rPr lang="en-US" altLang="ja-JP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datang</a:t>
            </a:r>
            <a:r>
              <a:rPr lang="en-US" altLang="ja-JP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saat</a:t>
            </a:r>
            <a:r>
              <a:rPr lang="en-US" altLang="ja-JP" sz="28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sedang</a:t>
            </a:r>
            <a:r>
              <a:rPr lang="en-US" altLang="ja-JP" sz="28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makan</a:t>
            </a:r>
            <a:r>
              <a:rPr lang="en-US" altLang="ja-JP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576263" indent="-576263"/>
            <a:endParaRPr lang="en-US" sz="2800" b="1" dirty="0">
              <a:solidFill>
                <a:srgbClr val="00000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6263" indent="-576263"/>
            <a:r>
              <a:rPr lang="ja-JP" altLang="en-US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会議を</a:t>
            </a:r>
            <a:r>
              <a:rPr lang="ja-JP" altLang="en-US" sz="2800" b="1" dirty="0">
                <a:solidFill>
                  <a:srgbClr val="00B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している</a:t>
            </a:r>
            <a:r>
              <a:rPr lang="ja-JP" altLang="en-US" sz="28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さいちゅうに</a:t>
            </a:r>
            <a:r>
              <a:rPr lang="ja-JP" altLang="en-US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、けいたいでんわがなった。</a:t>
            </a:r>
            <a:endParaRPr lang="en-US" altLang="ja-JP" sz="2800" b="1" dirty="0">
              <a:solidFill>
                <a:srgbClr val="00000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693738" indent="-693738"/>
            <a:r>
              <a:rPr lang="ja-JP" altLang="en-US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8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 Tengah-Tengah </a:t>
            </a:r>
            <a:r>
              <a:rPr lang="en-US" altLang="ja-JP" sz="28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rapat</a:t>
            </a:r>
            <a:r>
              <a:rPr lang="en-US" altLang="ja-JP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8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telpon</a:t>
            </a:r>
            <a:r>
              <a:rPr lang="en-US" altLang="ja-JP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berdering</a:t>
            </a:r>
            <a:r>
              <a:rPr lang="en-US" altLang="ja-JP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693738" indent="-693738"/>
            <a:endParaRPr lang="en-US" sz="2800" b="1" dirty="0">
              <a:solidFill>
                <a:srgbClr val="00000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6263" indent="-576263"/>
            <a:r>
              <a:rPr lang="ja-JP" altLang="en-US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試合</a:t>
            </a:r>
            <a:r>
              <a:rPr lang="ja-JP" altLang="en-US" sz="2800" b="1" dirty="0">
                <a:solidFill>
                  <a:srgbClr val="00B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の</a:t>
            </a:r>
            <a:r>
              <a:rPr lang="ja-JP" altLang="en-US" sz="28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さいちゅうに</a:t>
            </a:r>
            <a:r>
              <a:rPr lang="ja-JP" altLang="en-US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、雨が降り始めた。</a:t>
            </a:r>
            <a:endParaRPr lang="en-US" altLang="ja-JP" sz="2800" b="1" dirty="0">
              <a:solidFill>
                <a:srgbClr val="00000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6263" indent="-576263"/>
            <a:r>
              <a:rPr lang="ja-JP" altLang="en-US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 </a:t>
            </a:r>
            <a:r>
              <a:rPr lang="en-US" altLang="ja-JP" sz="28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 Tengah-Tengah </a:t>
            </a:r>
            <a:r>
              <a:rPr lang="en-US" altLang="ja-JP" sz="28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pertandingan</a:t>
            </a:r>
            <a:r>
              <a:rPr lang="en-US" altLang="ja-JP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8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mulai</a:t>
            </a:r>
            <a:r>
              <a:rPr lang="en-US" altLang="ja-JP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turun</a:t>
            </a:r>
            <a:r>
              <a:rPr lang="en-US" altLang="ja-JP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hujan</a:t>
            </a:r>
            <a:r>
              <a:rPr lang="en-US" altLang="ja-JP" sz="2800" b="1" dirty="0">
                <a:solidFill>
                  <a:srgbClr val="00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FC2E77-B16D-BC90-C7C4-26D405913509}"/>
              </a:ext>
            </a:extLst>
          </p:cNvPr>
          <p:cNvSpPr txBox="1"/>
          <p:nvPr/>
        </p:nvSpPr>
        <p:spPr>
          <a:xfrm>
            <a:off x="166254" y="101600"/>
            <a:ext cx="11534679" cy="107721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576263" indent="-576263"/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4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．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Menunjukkan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kejadian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diharapkan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Tengah-Tengah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kegiatan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7941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31D62-3BA3-58DB-64C1-B40DED299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71E741-8735-D100-4CBC-D19679991220}"/>
              </a:ext>
            </a:extLst>
          </p:cNvPr>
          <p:cNvSpPr txBox="1"/>
          <p:nvPr/>
        </p:nvSpPr>
        <p:spPr>
          <a:xfrm>
            <a:off x="166254" y="101600"/>
            <a:ext cx="11534679" cy="58477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576263" indent="-576263" algn="ctr"/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練習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9350A2-405D-6313-26B3-7FFBFA02710F}"/>
              </a:ext>
            </a:extLst>
          </p:cNvPr>
          <p:cNvSpPr txBox="1"/>
          <p:nvPr/>
        </p:nvSpPr>
        <p:spPr>
          <a:xfrm>
            <a:off x="208464" y="780188"/>
            <a:ext cx="11775072" cy="601241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電話で（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話す　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話している）さいちゅうに、ほかの電話がなった。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「お子さん、会う（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ついでに　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たびに）大きくなられますね。」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（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立ち上がった　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立ち上がる）とたんに、目まいがした。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おとなりの人は旅行の（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たびに　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ついでに）おみやげを買ってきてくれます。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「明日、近くへ行く（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ついでに　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たびに）忘れ物を届けますよ。」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FBB01D7-2879-349A-CD09-D12D5E80D266}"/>
              </a:ext>
            </a:extLst>
          </p:cNvPr>
          <p:cNvSpPr/>
          <p:nvPr/>
        </p:nvSpPr>
        <p:spPr>
          <a:xfrm>
            <a:off x="3470859" y="1130177"/>
            <a:ext cx="415637" cy="4064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DBAFB87-BDF1-E573-E803-1F26043D5563}"/>
              </a:ext>
            </a:extLst>
          </p:cNvPr>
          <p:cNvSpPr/>
          <p:nvPr/>
        </p:nvSpPr>
        <p:spPr>
          <a:xfrm>
            <a:off x="3805386" y="2029192"/>
            <a:ext cx="415637" cy="4064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904589F-A552-27B4-2A1A-F2B86119E324}"/>
              </a:ext>
            </a:extLst>
          </p:cNvPr>
          <p:cNvSpPr/>
          <p:nvPr/>
        </p:nvSpPr>
        <p:spPr>
          <a:xfrm>
            <a:off x="888705" y="2819400"/>
            <a:ext cx="415637" cy="4064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73475A8-6619-56B2-99C6-379547E3A4DD}"/>
              </a:ext>
            </a:extLst>
          </p:cNvPr>
          <p:cNvSpPr/>
          <p:nvPr/>
        </p:nvSpPr>
        <p:spPr>
          <a:xfrm>
            <a:off x="4425758" y="3585305"/>
            <a:ext cx="415637" cy="4064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510D429-8981-8B0A-16B3-5F44FA4A4441}"/>
              </a:ext>
            </a:extLst>
          </p:cNvPr>
          <p:cNvSpPr/>
          <p:nvPr/>
        </p:nvSpPr>
        <p:spPr>
          <a:xfrm>
            <a:off x="4075731" y="5421921"/>
            <a:ext cx="415637" cy="4064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671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4305A-50BC-DA31-B794-6548383A1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5530D9-A32D-C3C4-CA29-DC1ADBE8E130}"/>
              </a:ext>
            </a:extLst>
          </p:cNvPr>
          <p:cNvSpPr txBox="1"/>
          <p:nvPr/>
        </p:nvSpPr>
        <p:spPr>
          <a:xfrm>
            <a:off x="166254" y="101600"/>
            <a:ext cx="11534679" cy="58477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576263" indent="-576263" algn="ctr"/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練習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B4970E-0234-1AC2-AB29-1623A5395D06}"/>
              </a:ext>
            </a:extLst>
          </p:cNvPr>
          <p:cNvSpPr txBox="1"/>
          <p:nvPr/>
        </p:nvSpPr>
        <p:spPr>
          <a:xfrm>
            <a:off x="208464" y="780188"/>
            <a:ext cx="11775072" cy="515064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692150" indent="-69215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彼女の声が出なくなってしまったのは　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______ ______ __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★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___ _____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でした。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200000"/>
              </a:lnSpc>
            </a:pP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a. 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いる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b.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歌って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c.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テレビ番組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d.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さいちゅう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15938" indent="-515938">
              <a:lnSpc>
                <a:spcPct val="200000"/>
              </a:lnSpc>
            </a:pP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2. 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「時刻表ない？」「ないけど、駅へ　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__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★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___ ______ ______ _____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あげるよ。」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200000"/>
              </a:lnSpc>
            </a:pP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 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きて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b.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ついでに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c.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もらって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d.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行く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D68428E-3795-71DE-DAB9-C1B0E75E5B0F}"/>
              </a:ext>
            </a:extLst>
          </p:cNvPr>
          <p:cNvSpPr/>
          <p:nvPr/>
        </p:nvSpPr>
        <p:spPr>
          <a:xfrm>
            <a:off x="1091074" y="2896975"/>
            <a:ext cx="415637" cy="4064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E6AD700-C14F-F5FB-2D3E-ED542047BA13}"/>
              </a:ext>
            </a:extLst>
          </p:cNvPr>
          <p:cNvSpPr/>
          <p:nvPr/>
        </p:nvSpPr>
        <p:spPr>
          <a:xfrm>
            <a:off x="8412555" y="5370269"/>
            <a:ext cx="415637" cy="4064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550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1CF22-AC74-05B2-A425-4DDA5975F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96D9CBE-B2BC-8FA8-CD22-CA2C9FD266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914400"/>
            <a:ext cx="10474036" cy="5029200"/>
          </a:xfrm>
        </p:spPr>
        <p:txBody>
          <a:bodyPr/>
          <a:lstStyle/>
          <a:p>
            <a:pPr algn="ctr"/>
            <a:r>
              <a:rPr lang="ja-JP" altLang="en-US" b="1" dirty="0"/>
              <a:t>ありがとうございました！</a:t>
            </a:r>
            <a:br>
              <a:rPr lang="en-US" altLang="ja-JP" b="1" dirty="0"/>
            </a:br>
            <a:r>
              <a:rPr lang="ja-JP" altLang="en-US" b="1" dirty="0"/>
              <a:t>お疲れ様でした！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929290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{1CE45B10-3421-4624-8876-FBA5C811D4A2}TF1ed9553b-00c4-4092-846a-c8f7f2908f3beecd942f_win32-8e33096c3cfc</Template>
  <TotalTime>289</TotalTime>
  <Words>1094</Words>
  <Application>Microsoft Office PowerPoint</Application>
  <PresentationFormat>Widescreen</PresentationFormat>
  <Paragraphs>106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UD Digi Kyokasho N</vt:lpstr>
      <vt:lpstr>Arial</vt:lpstr>
      <vt:lpstr>Calibri</vt:lpstr>
      <vt:lpstr>Courier New</vt:lpstr>
      <vt:lpstr>Gill Sans Nova Light</vt:lpstr>
      <vt:lpstr>Sagona Book</vt:lpstr>
      <vt:lpstr>Custom</vt:lpstr>
      <vt:lpstr>文法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ありがとうございました！ お疲れ様でした！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Febriana Ardiyawati</dc:creator>
  <cp:lastModifiedBy>Febriana Ardiyawati</cp:lastModifiedBy>
  <cp:revision>14</cp:revision>
  <dcterms:created xsi:type="dcterms:W3CDTF">2026-09-23T02:21:24Z</dcterms:created>
  <dcterms:modified xsi:type="dcterms:W3CDTF">2026-09-30T12:39:28Z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