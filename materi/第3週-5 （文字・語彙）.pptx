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3554" autoAdjust="0"/>
  </p:normalViewPr>
  <p:slideViewPr>
    <p:cSldViewPr snapToGrid="0">
      <p:cViewPr varScale="1">
        <p:scale>
          <a:sx n="57" d="100"/>
          <a:sy n="57" d="100"/>
        </p:scale>
        <p:origin x="168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18908-1839-4FBD-AF96-EF2984E7ECF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06B5B-9553-4D27-9657-ECFC17C98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98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 err="1"/>
              <a:t>Rumus</a:t>
            </a:r>
            <a:r>
              <a:rPr lang="en-US" altLang="ja-JP" dirty="0"/>
              <a:t> : </a:t>
            </a:r>
            <a:r>
              <a:rPr lang="ja-JP" altLang="en-US" dirty="0"/>
              <a:t>→　人が場を盛り上げる</a:t>
            </a:r>
            <a:endParaRPr lang="en-US" altLang="ja-JP" dirty="0"/>
          </a:p>
          <a:p>
            <a:r>
              <a:rPr lang="ja-JP" altLang="en-US" dirty="0"/>
              <a:t>　　場が盛り上がる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5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うるさい</a:t>
            </a:r>
            <a:r>
              <a:rPr lang="en-US" altLang="ja-JP" dirty="0"/>
              <a:t>/</a:t>
            </a:r>
            <a:r>
              <a:rPr lang="ja-JP" altLang="en-US" dirty="0"/>
              <a:t>やかましい</a:t>
            </a:r>
            <a:r>
              <a:rPr lang="en-US" altLang="ja-JP" dirty="0"/>
              <a:t> paling </a:t>
            </a:r>
            <a:r>
              <a:rPr lang="en-US" altLang="ja-JP" dirty="0" err="1"/>
              <a:t>umum</a:t>
            </a:r>
            <a:r>
              <a:rPr lang="en-US" altLang="ja-JP" dirty="0"/>
              <a:t>/</a:t>
            </a:r>
            <a:r>
              <a:rPr lang="en-US" altLang="ja-JP" dirty="0" err="1"/>
              <a:t>kasar</a:t>
            </a:r>
            <a:r>
              <a:rPr lang="en-US" altLang="ja-JP" dirty="0"/>
              <a:t>. </a:t>
            </a:r>
            <a:r>
              <a:rPr lang="en-US" altLang="ja-JP" dirty="0" err="1"/>
              <a:t>Berisik</a:t>
            </a:r>
            <a:r>
              <a:rPr lang="en-US" altLang="ja-JP" dirty="0"/>
              <a:t> &amp; </a:t>
            </a:r>
            <a:r>
              <a:rPr lang="en-US" altLang="ja-JP" dirty="0" err="1"/>
              <a:t>bikin</a:t>
            </a:r>
            <a:r>
              <a:rPr lang="en-US" altLang="ja-JP" dirty="0"/>
              <a:t> </a:t>
            </a:r>
            <a:r>
              <a:rPr lang="en-US" altLang="ja-JP" dirty="0" err="1"/>
              <a:t>ganggu</a:t>
            </a:r>
            <a:r>
              <a:rPr lang="ja-JP" altLang="en-US" dirty="0"/>
              <a:t>　</a:t>
            </a:r>
            <a:r>
              <a:rPr lang="en-US" altLang="ja-JP" dirty="0"/>
              <a:t>(</a:t>
            </a:r>
            <a:r>
              <a:rPr lang="en-US" altLang="ja-JP" dirty="0" err="1"/>
              <a:t>tetangga</a:t>
            </a:r>
            <a:r>
              <a:rPr lang="en-US" altLang="ja-JP" dirty="0"/>
              <a:t> </a:t>
            </a:r>
            <a:r>
              <a:rPr lang="en-US" altLang="ja-JP" dirty="0" err="1"/>
              <a:t>karoke</a:t>
            </a:r>
            <a:r>
              <a:rPr lang="en-US" altLang="ja-JP" dirty="0"/>
              <a:t> jam 2 </a:t>
            </a:r>
            <a:r>
              <a:rPr lang="en-US" altLang="ja-JP" dirty="0" err="1"/>
              <a:t>pagi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さわがしい</a:t>
            </a:r>
            <a:r>
              <a:rPr lang="en-US" altLang="ja-JP" dirty="0"/>
              <a:t> </a:t>
            </a:r>
            <a:r>
              <a:rPr lang="en-US" altLang="ja-JP" dirty="0" err="1"/>
              <a:t>Tempatnya</a:t>
            </a:r>
            <a:r>
              <a:rPr lang="en-US" altLang="ja-JP" dirty="0"/>
              <a:t> </a:t>
            </a:r>
            <a:r>
              <a:rPr lang="en-US" altLang="ja-JP" dirty="0" err="1"/>
              <a:t>emang</a:t>
            </a:r>
            <a:r>
              <a:rPr lang="en-US" altLang="ja-JP" dirty="0"/>
              <a:t> </a:t>
            </a:r>
            <a:r>
              <a:rPr lang="en-US" altLang="ja-JP" dirty="0" err="1"/>
              <a:t>rame</a:t>
            </a:r>
            <a:r>
              <a:rPr lang="en-US" altLang="ja-JP" dirty="0"/>
              <a:t>, </a:t>
            </a:r>
            <a:r>
              <a:rPr lang="en-US" altLang="ja-JP" dirty="0" err="1"/>
              <a:t>nggak</a:t>
            </a:r>
            <a:r>
              <a:rPr lang="en-US" altLang="ja-JP" dirty="0"/>
              <a:t> </a:t>
            </a:r>
            <a:r>
              <a:rPr lang="en-US" altLang="ja-JP" dirty="0" err="1"/>
              <a:t>teralu</a:t>
            </a:r>
            <a:r>
              <a:rPr lang="en-US" altLang="ja-JP" dirty="0"/>
              <a:t> negative (</a:t>
            </a:r>
            <a:r>
              <a:rPr lang="en-US" altLang="ja-JP" dirty="0" err="1"/>
              <a:t>Jalanan</a:t>
            </a:r>
            <a:r>
              <a:rPr lang="en-US" altLang="ja-JP" dirty="0"/>
              <a:t> </a:t>
            </a:r>
            <a:r>
              <a:rPr lang="en-US" altLang="ja-JP" dirty="0" err="1"/>
              <a:t>karena</a:t>
            </a:r>
            <a:r>
              <a:rPr lang="en-US" altLang="ja-JP" dirty="0"/>
              <a:t> festival)</a:t>
            </a:r>
          </a:p>
          <a:p>
            <a:r>
              <a:rPr lang="ja-JP" altLang="en-US" dirty="0"/>
              <a:t>にぎやか</a:t>
            </a:r>
            <a:r>
              <a:rPr lang="en-US" altLang="ja-JP" dirty="0"/>
              <a:t> Ramai, </a:t>
            </a:r>
            <a:r>
              <a:rPr lang="en-US" altLang="ja-JP" dirty="0" err="1"/>
              <a:t>meriah</a:t>
            </a:r>
            <a:r>
              <a:rPr lang="en-US" altLang="ja-JP" dirty="0"/>
              <a:t>, </a:t>
            </a:r>
            <a:r>
              <a:rPr lang="en-US" altLang="ja-JP" dirty="0" err="1"/>
              <a:t>hidup</a:t>
            </a:r>
            <a:r>
              <a:rPr lang="en-US" altLang="ja-JP" dirty="0"/>
              <a:t> (pasar </a:t>
            </a:r>
            <a:r>
              <a:rPr lang="en-US" altLang="ja-JP" dirty="0" err="1"/>
              <a:t>malam,dll</a:t>
            </a:r>
            <a:r>
              <a:rPr lang="en-US" altLang="ja-JP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00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EA90-135E-5FC3-84CF-A1D107A08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1820B-11E0-73D0-EBF8-101D19542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A91E9-E629-9825-A007-0B0D03E5A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3DA66-E5D4-FC95-5347-08D556640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56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AB7FA-8ED0-D0C1-1EF3-2AE9EB1D0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2723C-1A35-B2AF-0BEB-2C45A53FB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B5F96-9091-5CCF-F5FD-5420D7F83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0E0CA-8A92-B39B-6468-D8D9ABB31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03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7EF63-23F9-7D82-B6F3-652D44F6F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EBEB8-2CC7-8013-422D-A73C7B104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48DF3-70E7-86CF-E3EC-A0BDB80BC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D196D-BD82-BBC1-9922-F29E09519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49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9EB0-2351-35EA-C2C2-FD56D887A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3788A5-C05B-880F-5DDC-AA81B1510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8C947F-B0E7-F2D0-7446-FD26BC712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13F3D-A384-550F-5366-B9CCBFF54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38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B2AE4-51E1-2B9B-A8CA-1A7AC3A93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1ABCD-153E-180A-9261-FD2E5C59E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015E1-4284-5EED-C93B-CE5AC729D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A5512-3C40-B1B2-3895-25808A5B6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49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8F198-AB52-F79B-4E87-521A1F5D9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0C0EC-3D91-4B3B-1BB2-A509C146A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2B4919-CA59-3C96-1F4A-E4062B783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AF1CC-AAF2-61B3-C1DD-D7FF76081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62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F1C7F-B064-732E-E49F-0F0A97FF6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5B678-E4DE-6445-DB33-0FC72772A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48152D-08E6-75FE-FE9D-7DC5D2296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E865B-8B94-5DF0-8120-AF4250741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11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0A887-0C22-C0C6-95E2-6930BA92C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F6C7B-1E48-0A3C-E18E-D6C135038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1B6DB-6BB1-365A-7775-8B3604FDF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（ようけん）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urusan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bisnis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Formal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resmi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di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kantor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di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telpon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atau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email</a:t>
            </a:r>
          </a:p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ようじ　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urusan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pribadi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kesibukan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45D98-4389-7337-59A4-52E2B947F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63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F9019-1962-B2EC-ABC4-234641EFD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A11D8-C6F4-5961-C563-1E7384111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3C1E4-9F54-3223-079D-0E15EF731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（ようけん）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urusan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bisnis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Formal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resmi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di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kantor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di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telpon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atau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email</a:t>
            </a:r>
          </a:p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ようじ　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urusan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pribadi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kesibukan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71E1E-BC92-3AC0-B385-076FF54CE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4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E8D31-CA6A-EC95-9691-4E55195F4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45BDC-EE60-4805-1341-C2F3B49A9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B0917-472F-82A9-77CC-A36673FEB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08DD9-23F6-456C-A8FA-173E750BB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72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effectLst>
            <a:outerShdw blurRad="50800" dir="14400000" algn="ctr" rotWithShape="0">
              <a:schemeClr val="bg1">
                <a:alpha val="6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0B0730-56D6-3579-E41F-6F3DA9809EFE}"/>
              </a:ext>
            </a:extLst>
          </p:cNvPr>
          <p:cNvSpPr txBox="1"/>
          <p:nvPr/>
        </p:nvSpPr>
        <p:spPr>
          <a:xfrm>
            <a:off x="2235200" y="1246909"/>
            <a:ext cx="765694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600" dirty="0"/>
              <a:t>語彙</a:t>
            </a:r>
            <a:endParaRPr lang="en-US" sz="16600" dirty="0"/>
          </a:p>
        </p:txBody>
      </p:sp>
    </p:spTree>
    <p:extLst>
      <p:ext uri="{BB962C8B-B14F-4D97-AF65-F5344CB8AC3E}">
        <p14:creationId xmlns:p14="http://schemas.microsoft.com/office/powerpoint/2010/main" val="4244895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8001-35E3-F0EE-5902-A893EE39D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72E92-B74A-6208-4711-6F38BAF1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お酒を飲みましょう！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Let’s Drink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923EB-A1A3-BAC0-BB69-86EEE0A2036D}"/>
              </a:ext>
            </a:extLst>
          </p:cNvPr>
          <p:cNvSpPr txBox="1"/>
          <p:nvPr/>
        </p:nvSpPr>
        <p:spPr>
          <a:xfrm>
            <a:off x="344543" y="2318327"/>
            <a:ext cx="11037455" cy="39703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宴会（えんかい）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Pesta/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perjamuan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(formal)</a:t>
            </a:r>
          </a:p>
          <a:p>
            <a:pPr lvl="1"/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忘年会（ぼうねんかい）の宴会を予約した。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Reservasi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pesta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akhir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tahun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送別会（そうべつかい）：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Pesta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perpisahan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田中さんの送別会をします。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Mengadakan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pesta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perpisahan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Tanaka.</a:t>
            </a:r>
          </a:p>
          <a:p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歓迎会（かんげいかい）：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Pesta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penyambutan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新入社員（しんにゅうしゃいん）の歓迎会を開く。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Mengadakan</a:t>
            </a:r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pesta</a:t>
            </a:r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penyambutan</a:t>
            </a:r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karyawan</a:t>
            </a:r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baru</a:t>
            </a:r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飲み放題（のみほうだい）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Minum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sepuasnya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/All-you can drink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食べ放題（たべほうだい）：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Makan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sepuasnya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/All-you can eat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971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D488-1DD9-AC00-919A-3C1590D93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540A-ED04-3185-4CFE-53773D19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お酒を飲みましょう！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Let’s Drink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BA1B3-DF0D-DB0D-E930-2E7BFDDDE7F1}"/>
              </a:ext>
            </a:extLst>
          </p:cNvPr>
          <p:cNvSpPr txBox="1"/>
          <p:nvPr/>
        </p:nvSpPr>
        <p:spPr>
          <a:xfrm>
            <a:off x="344544" y="2318327"/>
            <a:ext cx="1761348" cy="18620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5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注</a:t>
            </a:r>
            <a:endParaRPr lang="en-US" sz="115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80BDB-763E-2438-B062-92C045DB58C3}"/>
              </a:ext>
            </a:extLst>
          </p:cNvPr>
          <p:cNvSpPr txBox="1"/>
          <p:nvPr/>
        </p:nvSpPr>
        <p:spPr>
          <a:xfrm>
            <a:off x="2235200" y="2318327"/>
            <a:ext cx="7961745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ぐ　　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Menuang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(TRA) 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Menuang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alkohol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gelas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 lain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そそ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ぐ　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Menuang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(TRA) 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Menuang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air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secara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umum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7FE46-AE70-AA33-6B0D-E758CCB69594}"/>
              </a:ext>
            </a:extLst>
          </p:cNvPr>
          <p:cNvSpPr txBox="1"/>
          <p:nvPr/>
        </p:nvSpPr>
        <p:spPr>
          <a:xfrm>
            <a:off x="2235200" y="3041182"/>
            <a:ext cx="7961745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せんぱいにお酒を注ぐのがマーナだ。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Menuangkan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sake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senior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sopan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santun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カップにお湯を注ぐ。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Menuang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air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panas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cangkir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78F0A-BB79-486B-DAA5-90AA631A0B71}"/>
              </a:ext>
            </a:extLst>
          </p:cNvPr>
          <p:cNvSpPr txBox="1"/>
          <p:nvPr/>
        </p:nvSpPr>
        <p:spPr>
          <a:xfrm>
            <a:off x="283107" y="4352779"/>
            <a:ext cx="11625783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乾杯する（かんぱい）：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Bersulang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みんなで乾杯しよう！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bersulang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semuanya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554D6-7C64-97AE-E2E3-20A900A4859A}"/>
              </a:ext>
            </a:extLst>
          </p:cNvPr>
          <p:cNvSpPr txBox="1"/>
          <p:nvPr/>
        </p:nvSpPr>
        <p:spPr>
          <a:xfrm>
            <a:off x="283107" y="5438134"/>
            <a:ext cx="11625783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盛り上げる（もりあがる）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(TRA) :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Meramaikan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Membuat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heboh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pelaku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彼が話して場（ば）を売り上げた。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meramaikan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suasana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ceritanya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盛り上がる（もりあがる）（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INT):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Menjadi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heboh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/Meriah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Hasilnya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宴会が盛り上がった。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Pestanya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menjadi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meriah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5986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  <p:bldP spid="5" grpId="0" uiExpand="1" build="allAtOnce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8979A-9B88-F089-5B52-065A86843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864CB-120C-66FD-86E4-7DD9B7A3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お酒を飲みましょう！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Let’s Drink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E46499-8981-0769-9CDB-BA738FFEF7B1}"/>
              </a:ext>
            </a:extLst>
          </p:cNvPr>
          <p:cNvSpPr txBox="1"/>
          <p:nvPr/>
        </p:nvSpPr>
        <p:spPr>
          <a:xfrm>
            <a:off x="344543" y="2318327"/>
            <a:ext cx="11037455" cy="28623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泡（あわ）：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Busa</a:t>
            </a:r>
          </a:p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ビールの泡。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Busa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bir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あふれる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(INT)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Meluap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tumpah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泡があふれた。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Busanya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meluap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こぼす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(TRA) :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Menumpahkan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ビールをこぼしてしまった。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sengaja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menumpahkan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bir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こぼれる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(INT):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Tumpah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→ビールがこぼれた。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Birnya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tumpah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一気に飲む：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Minum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sekali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teguk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Minum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sekaligus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→彼はビールを一気に飲んだ。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minum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bir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sekali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teguk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128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C2731-8E2F-5743-357D-BD1CD1403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6FCE6-506F-523B-5AA6-669B75020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お酒を飲みましょう！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Let’s Drink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4253EE-03DA-140B-9119-0D104A107473}"/>
              </a:ext>
            </a:extLst>
          </p:cNvPr>
          <p:cNvSpPr txBox="1"/>
          <p:nvPr/>
        </p:nvSpPr>
        <p:spPr>
          <a:xfrm>
            <a:off x="344543" y="2318327"/>
            <a:ext cx="11037455" cy="175432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水割り（みずわり）：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Minuman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keras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dicampur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air (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Whiskey+air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水割りを一杯（いっぱい）ください。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Tolong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satu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gelas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whiskey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dicampur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おまつまみのチーズ：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Keju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teman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mimum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おつまみのチーズをつまみながら飲む。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Minum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sambil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ngemil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keju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1A676-0E42-9978-926D-2872AE3B1597}"/>
              </a:ext>
            </a:extLst>
          </p:cNvPr>
          <p:cNvSpPr txBox="1"/>
          <p:nvPr/>
        </p:nvSpPr>
        <p:spPr>
          <a:xfrm>
            <a:off x="344543" y="4299527"/>
            <a:ext cx="11037455" cy="23083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酔（よう）（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INT) :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Mabuk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alkohol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彼はお酒に酔いやすい。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gampang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mabuk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酔っ払う（よっぱらう）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(INT)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Verb) :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Mabuk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berat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飲みすぎて酔っ払った。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Mabuk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kebanyakan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minum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酔っ払い（よっぱらい）（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Noun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）：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Orang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mabuk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pemabuk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電車に酔っ払いがいる。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 orang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mabuk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kereta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918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24D2D-2B22-7E8B-CFBE-384838AB8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CCBF-042A-15C3-41B5-5DFBD4B3B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お酒を飲みましょう！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Let’s Drink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7CBD1-51F5-DEDF-3114-73F153C93EC2}"/>
              </a:ext>
            </a:extLst>
          </p:cNvPr>
          <p:cNvSpPr txBox="1"/>
          <p:nvPr/>
        </p:nvSpPr>
        <p:spPr>
          <a:xfrm>
            <a:off x="344543" y="2225963"/>
            <a:ext cx="11037455" cy="452431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暴れる（あばれる）（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INT)	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Mengamuk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berulah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bertindak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liar</a:t>
            </a:r>
          </a:p>
          <a:p>
            <a:pPr lvl="1"/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酔っ払いが店であばれる。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Orang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mabuk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mengamuk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toko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やかましい：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Berisik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suara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keras,menyebalkan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cerewet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(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membuat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rishi)</a:t>
            </a:r>
          </a:p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となりの声がやまかましい。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Suara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tetangga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berisik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banget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上司がやかましい。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Bos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cerewet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banget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さわがしい：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Berisik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ramai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gaduh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).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objektif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tempatnya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ramai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工場で外がさわがしい。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konstruksi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luar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berisik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さわぐ（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INT) :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Ribut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gaduh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membuat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kegaduhan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子どもたちがさわいでいる。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Anak-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anak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sedang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rebut.</a:t>
            </a:r>
          </a:p>
          <a:p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そうぞうしい：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Berisik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/rebut (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campur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banyak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suara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heboh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そうぞうしい宴会だった。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Pesta yang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heboh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berisik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580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0547D-74D2-D83A-2DD2-59A821C7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BFA79-CDD8-ED13-11BB-7FC66F0D4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お酒を飲みましょう！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Let’s Drink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9740F2-940E-F6CD-C83E-84558B1B7A1E}"/>
              </a:ext>
            </a:extLst>
          </p:cNvPr>
          <p:cNvSpPr txBox="1"/>
          <p:nvPr/>
        </p:nvSpPr>
        <p:spPr>
          <a:xfrm>
            <a:off x="344543" y="2318327"/>
            <a:ext cx="11037455" cy="175432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煙（けむり）：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Asap (Noun)</a:t>
            </a: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たばこの煙。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Asap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rokok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煙い（けむい）：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Berasap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煙くて目が痛い。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Berasap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sampai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mata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sakit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煙たい（けむたい）：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Risih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segan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gak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enak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hati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あのせんぱいは煙たいです。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Senpai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bikin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risih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B5AAF-D47D-1139-4B8B-6640B323D33D}"/>
              </a:ext>
            </a:extLst>
          </p:cNvPr>
          <p:cNvSpPr txBox="1"/>
          <p:nvPr/>
        </p:nvSpPr>
        <p:spPr>
          <a:xfrm>
            <a:off x="344543" y="4411822"/>
            <a:ext cx="1761348" cy="18620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5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割</a:t>
            </a:r>
            <a:endParaRPr lang="en-US" sz="115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F8C64-492D-6494-D849-7E3E50893978}"/>
              </a:ext>
            </a:extLst>
          </p:cNvPr>
          <p:cNvSpPr txBox="1"/>
          <p:nvPr/>
        </p:nvSpPr>
        <p:spPr>
          <a:xfrm>
            <a:off x="2403642" y="4327011"/>
            <a:ext cx="7961745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　　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Memecahkan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(TRA)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われ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　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Pecah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(INT)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46D23-8648-201B-A330-5F0E5F8864CA}"/>
              </a:ext>
            </a:extLst>
          </p:cNvPr>
          <p:cNvSpPr txBox="1"/>
          <p:nvPr/>
        </p:nvSpPr>
        <p:spPr>
          <a:xfrm>
            <a:off x="2403642" y="5210483"/>
            <a:ext cx="7961745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酔っ払いがクラスを割った。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mabuk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memecahkan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gelas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ガラスが割れた。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Kacanya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pecah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349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  <p:bldP spid="7" grpId="0" uiExpand="1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CCD73-D0A1-5A63-6CC9-D1C26B17F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47BA-A5EE-991B-6FBD-C1D048A75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お酒を飲みましょう！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Let’s Drink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D14AC-6711-2E1A-2FD2-1ACDE187ED0D}"/>
              </a:ext>
            </a:extLst>
          </p:cNvPr>
          <p:cNvSpPr txBox="1"/>
          <p:nvPr/>
        </p:nvSpPr>
        <p:spPr>
          <a:xfrm>
            <a:off x="537048" y="2318327"/>
            <a:ext cx="1761348" cy="18620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5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倒</a:t>
            </a:r>
            <a:endParaRPr lang="en-US" sz="115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F8690-8BC0-A6B4-14F6-BACAA6863BF4}"/>
              </a:ext>
            </a:extLst>
          </p:cNvPr>
          <p:cNvSpPr txBox="1"/>
          <p:nvPr/>
        </p:nvSpPr>
        <p:spPr>
          <a:xfrm>
            <a:off x="2596147" y="2233516"/>
            <a:ext cx="7961745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たお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　　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Menjatuhkan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Merobohkan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(TRA)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たお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れる　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Jatuh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roboh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DDE03-4B5F-59D9-6BC4-448A9AA4A9E0}"/>
              </a:ext>
            </a:extLst>
          </p:cNvPr>
          <p:cNvSpPr txBox="1"/>
          <p:nvPr/>
        </p:nvSpPr>
        <p:spPr>
          <a:xfrm>
            <a:off x="2596147" y="2980046"/>
            <a:ext cx="7961745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酔っ払いが自転車を倒した。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mabuk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menjatuhkan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sepeda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自転車が倒れた。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Sepedanya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roboh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9257F-62DA-77D4-D6BB-CDE2C1F3C8DC}"/>
              </a:ext>
            </a:extLst>
          </p:cNvPr>
          <p:cNvSpPr txBox="1"/>
          <p:nvPr/>
        </p:nvSpPr>
        <p:spPr>
          <a:xfrm>
            <a:off x="388296" y="4423853"/>
            <a:ext cx="11037455" cy="20313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迷惑（めいわく）をかける　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Merepotkan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mengganggu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 (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pelakunya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kita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(TRA).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迷惑がかかる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	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Kerepotan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terjadi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tertimpa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.(INT)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よっぱって迷惑をかけました。すみません。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Mabuk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dan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merepotkan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Maaf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大声（おおごえ）でさわぐときんじょに迷惑がかかる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Kalau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teriak-teriak,tetangga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jadi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kerepotan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248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  <p:bldP spid="7" grpId="0" uiExpand="1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4E90A-1524-415C-F217-F0EA899F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659F-49AE-80CD-C46F-AB2CEF253D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5842" y="93721"/>
            <a:ext cx="3489158" cy="969963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お酒を飲みましょう！</a:t>
            </a:r>
            <a:b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Let’s Drink</a:t>
            </a:r>
            <a:endParaRPr lang="en-US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2B744-A5CA-A81D-92B0-793F02B249E0}"/>
              </a:ext>
            </a:extLst>
          </p:cNvPr>
          <p:cNvSpPr txBox="1"/>
          <p:nvPr/>
        </p:nvSpPr>
        <p:spPr>
          <a:xfrm>
            <a:off x="195842" y="1201050"/>
            <a:ext cx="11618697" cy="51667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湯飲みにお茶を（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そそぐ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こぼす）。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グラスが倒れて酒が（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こぼれた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あふれた）。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仕事の後は、（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乾杯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飲み会）で楽しみましょう。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よっぱらって、いすを（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割って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倒して）しまった。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「ビールのおつまみには（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あわ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チーズ）がいいですね。」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「そんなに（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さわがしく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よっぱらい）していると、となりのお客さんにめいわくがかかるよ。」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597E4EC-50E3-F10D-5DD2-239F135EA5CA}"/>
              </a:ext>
            </a:extLst>
          </p:cNvPr>
          <p:cNvSpPr/>
          <p:nvPr/>
        </p:nvSpPr>
        <p:spPr>
          <a:xfrm>
            <a:off x="2952653" y="1458921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1D0DCB-E074-B0E4-9B86-61B3C8B766E7}"/>
              </a:ext>
            </a:extLst>
          </p:cNvPr>
          <p:cNvSpPr/>
          <p:nvPr/>
        </p:nvSpPr>
        <p:spPr>
          <a:xfrm>
            <a:off x="3580958" y="2165795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173E99-8B29-C9F5-4117-069403579D0E}"/>
              </a:ext>
            </a:extLst>
          </p:cNvPr>
          <p:cNvSpPr/>
          <p:nvPr/>
        </p:nvSpPr>
        <p:spPr>
          <a:xfrm>
            <a:off x="3868479" y="2865452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44177C-FE61-465B-1C04-0688699FC9D1}"/>
              </a:ext>
            </a:extLst>
          </p:cNvPr>
          <p:cNvSpPr/>
          <p:nvPr/>
        </p:nvSpPr>
        <p:spPr>
          <a:xfrm>
            <a:off x="5334422" y="3642645"/>
            <a:ext cx="404642" cy="44809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07CCEE-BF5A-1826-CF4F-EBD051ABCB4A}"/>
              </a:ext>
            </a:extLst>
          </p:cNvPr>
          <p:cNvSpPr/>
          <p:nvPr/>
        </p:nvSpPr>
        <p:spPr>
          <a:xfrm>
            <a:off x="5304585" y="4358654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75C377-EE1A-C0C7-E728-7CDB25915415}"/>
              </a:ext>
            </a:extLst>
          </p:cNvPr>
          <p:cNvSpPr/>
          <p:nvPr/>
        </p:nvSpPr>
        <p:spPr>
          <a:xfrm>
            <a:off x="2290432" y="5157292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8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BA83D-FFAE-874B-2FDD-3175D11BB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B29F-0A02-6AC1-1AE7-B26F391E995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5842" y="93721"/>
            <a:ext cx="3489158" cy="969963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お酒を飲みましょう！</a:t>
            </a:r>
            <a:b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Let’s Drink</a:t>
            </a:r>
            <a:endParaRPr lang="en-US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89F38-CEAC-4A31-674A-FE99B356D15A}"/>
              </a:ext>
            </a:extLst>
          </p:cNvPr>
          <p:cNvSpPr txBox="1"/>
          <p:nvPr/>
        </p:nvSpPr>
        <p:spPr>
          <a:xfrm>
            <a:off x="208464" y="1468880"/>
            <a:ext cx="11775072" cy="31815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「禁煙席がいいよ。喫煙席は（　　　）から。」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ア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やかましい　　　イ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けむたい　　　ウ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めいわくをかける　　　エ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よっぱらう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ワイングラスを倒して、（　　　）しまった。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ア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よっぱらって　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イ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あふれて　　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ウ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割って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エ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注いで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62DE79-C0B8-9BA9-E822-0AC666FD0DA0}"/>
              </a:ext>
            </a:extLst>
          </p:cNvPr>
          <p:cNvSpPr/>
          <p:nvPr/>
        </p:nvSpPr>
        <p:spPr>
          <a:xfrm>
            <a:off x="3452842" y="2325195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12D9CE-B960-5AE9-5B72-EBD19094AE97}"/>
              </a:ext>
            </a:extLst>
          </p:cNvPr>
          <p:cNvSpPr/>
          <p:nvPr/>
        </p:nvSpPr>
        <p:spPr>
          <a:xfrm>
            <a:off x="6589073" y="4150799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51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3019F-670E-58D2-76BA-0B1012EDA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84B05F-D535-0225-6DB7-07E0BB7E5A66}"/>
              </a:ext>
            </a:extLst>
          </p:cNvPr>
          <p:cNvSpPr txBox="1"/>
          <p:nvPr/>
        </p:nvSpPr>
        <p:spPr>
          <a:xfrm>
            <a:off x="2235200" y="1246909"/>
            <a:ext cx="765694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600" dirty="0"/>
              <a:t>漢字</a:t>
            </a:r>
            <a:endParaRPr lang="en-US" sz="16600" dirty="0"/>
          </a:p>
        </p:txBody>
      </p:sp>
    </p:spTree>
    <p:extLst>
      <p:ext uri="{BB962C8B-B14F-4D97-AF65-F5344CB8AC3E}">
        <p14:creationId xmlns:p14="http://schemas.microsoft.com/office/powerpoint/2010/main" val="3604486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AB1A2-542C-9EE2-6250-F2407C5AC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BBEBC-3316-BA7A-0AA7-A7CF0B0C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44" y="718121"/>
            <a:ext cx="10571998" cy="970450"/>
          </a:xfrm>
        </p:spPr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コピー機・留守番電話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fotokopi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&amp;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penjawab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otomatis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DC40DBF-FDEF-09AD-3184-EE861125DAD0}"/>
              </a:ext>
            </a:extLst>
          </p:cNvPr>
          <p:cNvSpPr txBox="1">
            <a:spLocks/>
          </p:cNvSpPr>
          <p:nvPr/>
        </p:nvSpPr>
        <p:spPr>
          <a:xfrm>
            <a:off x="2986144" y="-485225"/>
            <a:ext cx="3871856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effectLst>
                  <a:outerShdw blurRad="50800" dir="14400000" algn="ctr" rotWithShape="0">
                    <a:schemeClr val="bg1">
                      <a:alpha val="6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るすばんでんわ</a:t>
            </a:r>
            <a:endParaRPr lang="en-US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AD734-8D91-D42A-A873-F40EE7ACDA9B}"/>
              </a:ext>
            </a:extLst>
          </p:cNvPr>
          <p:cNvSpPr txBox="1"/>
          <p:nvPr/>
        </p:nvSpPr>
        <p:spPr>
          <a:xfrm>
            <a:off x="4510143" y="2775527"/>
            <a:ext cx="7123057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める 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Menahan,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Menghentikan,menyimpan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りゅう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E682EF-E8B5-5D2D-1871-40D861400BB5}"/>
              </a:ext>
            </a:extLst>
          </p:cNvPr>
          <p:cNvSpPr txBox="1"/>
          <p:nvPr/>
        </p:nvSpPr>
        <p:spPr>
          <a:xfrm>
            <a:off x="4510142" y="3828978"/>
            <a:ext cx="7123057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留学（りゅうがく）：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Study exchange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保留（ほりゅう）　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Dipending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ditahan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留守番（るすばん）：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Jaga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rumah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(pas yang punya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書留（かきとめ）　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Pos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tercatat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/registered mail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44E05-1028-CFA2-A4AA-B85B86C72B6D}"/>
              </a:ext>
            </a:extLst>
          </p:cNvPr>
          <p:cNvSpPr txBox="1"/>
          <p:nvPr/>
        </p:nvSpPr>
        <p:spPr>
          <a:xfrm>
            <a:off x="4510142" y="5271997"/>
            <a:ext cx="7123057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アメリカに留学する。　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Kuliah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Amerika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留守番を頼む（たのむ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Minta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tolong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jaga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rumah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A76DCE-01DA-6D1C-3509-BEA520761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44" y="2393379"/>
            <a:ext cx="37465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2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DF429-89E0-9FC4-AEEC-00E15DB25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E0E4-B058-920E-9316-A5FE1515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44" y="718121"/>
            <a:ext cx="10571998" cy="970450"/>
          </a:xfrm>
        </p:spPr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コピー機・留守番電話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fotokopi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&amp;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penjawab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otomatis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9928C2-EBD1-CF2B-D17F-D8544F1860D9}"/>
              </a:ext>
            </a:extLst>
          </p:cNvPr>
          <p:cNvSpPr txBox="1">
            <a:spLocks/>
          </p:cNvSpPr>
          <p:nvPr/>
        </p:nvSpPr>
        <p:spPr>
          <a:xfrm>
            <a:off x="2986144" y="-485225"/>
            <a:ext cx="3871856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effectLst>
                  <a:outerShdw blurRad="50800" dir="14400000" algn="ctr" rotWithShape="0">
                    <a:schemeClr val="bg1">
                      <a:alpha val="6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るすばんでんわ</a:t>
            </a:r>
            <a:endParaRPr lang="en-US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297B7-C2C0-2F6E-6BFA-17548B95F847}"/>
              </a:ext>
            </a:extLst>
          </p:cNvPr>
          <p:cNvSpPr txBox="1"/>
          <p:nvPr/>
        </p:nvSpPr>
        <p:spPr>
          <a:xfrm>
            <a:off x="4510143" y="2775527"/>
            <a:ext cx="7123057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まも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 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Menjaga,melindungi,mematuhi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しゅ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6F2B5F-8955-097E-E3AB-DA2357010587}"/>
              </a:ext>
            </a:extLst>
          </p:cNvPr>
          <p:cNvSpPr txBox="1"/>
          <p:nvPr/>
        </p:nvSpPr>
        <p:spPr>
          <a:xfrm>
            <a:off x="4510142" y="3828978"/>
            <a:ext cx="7123057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守備（しゅび）：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Pertahanan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(baseball/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sepakbola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militer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留守（るす）　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 di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rumah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0504BC-3E7E-5A64-1B69-43F61E92F44B}"/>
              </a:ext>
            </a:extLst>
          </p:cNvPr>
          <p:cNvSpPr txBox="1"/>
          <p:nvPr/>
        </p:nvSpPr>
        <p:spPr>
          <a:xfrm>
            <a:off x="4510142" y="4605430"/>
            <a:ext cx="7123057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留守にする。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Pergi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meninggalkan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rumah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kosong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約束（やくそく）を守る。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Menepati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janji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9B80D-EAA3-38DC-D1CD-95FE050A8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44" y="2308712"/>
            <a:ext cx="3831167" cy="383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52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DA03C-D9DF-C4DA-EFE7-173CFB5D5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58A5-03F8-4707-CF1E-72EB86BAB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44" y="718121"/>
            <a:ext cx="10571998" cy="970450"/>
          </a:xfrm>
        </p:spPr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コピー機・留守番電話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fotokopi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&amp;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penjawab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otomatis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7822F0-4102-4D03-74CD-E0F131B890F5}"/>
              </a:ext>
            </a:extLst>
          </p:cNvPr>
          <p:cNvSpPr txBox="1">
            <a:spLocks/>
          </p:cNvSpPr>
          <p:nvPr/>
        </p:nvSpPr>
        <p:spPr>
          <a:xfrm>
            <a:off x="2986144" y="-485225"/>
            <a:ext cx="3871856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effectLst>
                  <a:outerShdw blurRad="50800" dir="14400000" algn="ctr" rotWithShape="0">
                    <a:schemeClr val="bg1">
                      <a:alpha val="6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るすばんでんわ</a:t>
            </a:r>
            <a:endParaRPr lang="en-US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7405A-2D04-F578-BA3F-7BC49C698EE2}"/>
              </a:ext>
            </a:extLst>
          </p:cNvPr>
          <p:cNvSpPr txBox="1"/>
          <p:nvPr/>
        </p:nvSpPr>
        <p:spPr>
          <a:xfrm>
            <a:off x="4560943" y="2098193"/>
            <a:ext cx="7123057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こい 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 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Rasa     : Strong/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medok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Warna    :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Pekat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tua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Hubungan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: Deep/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mesra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AC90FD-16FE-97A7-6995-8B177E96C583}"/>
              </a:ext>
            </a:extLst>
          </p:cNvPr>
          <p:cNvSpPr txBox="1"/>
          <p:nvPr/>
        </p:nvSpPr>
        <p:spPr>
          <a:xfrm>
            <a:off x="4560942" y="3493559"/>
            <a:ext cx="7123057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このコーヒー、濃すぎる。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Kopinya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terlalu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pekat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/strong.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彼女はいつも薄いメイクをしてる。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selalu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makeup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tebal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D9AA62-BBC4-AF7F-2C00-544D3D7E21B0}"/>
              </a:ext>
            </a:extLst>
          </p:cNvPr>
          <p:cNvSpPr txBox="1"/>
          <p:nvPr/>
        </p:nvSpPr>
        <p:spPr>
          <a:xfrm>
            <a:off x="4560942" y="4334927"/>
            <a:ext cx="7123057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うすい 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 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Rasa     :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Hambar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/light</a:t>
            </a: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Warna    : Muda/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pudar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Hubungan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: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renggang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58E23-E324-16AC-4FC5-39A433530C9B}"/>
              </a:ext>
            </a:extLst>
          </p:cNvPr>
          <p:cNvSpPr txBox="1"/>
          <p:nvPr/>
        </p:nvSpPr>
        <p:spPr>
          <a:xfrm>
            <a:off x="4560941" y="5730293"/>
            <a:ext cx="7123057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薄いピンクが好きです。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 pink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muda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人のかんけいはだんだん薄くなった。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Hubungan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keta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berdua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lama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renggang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6A8BB1-6E2D-CDC7-2C21-6F31B808E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67" y="4441785"/>
            <a:ext cx="2355377" cy="21869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8AE97E-11F3-208C-BF46-F70AAB9CC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67" y="1937795"/>
            <a:ext cx="2355377" cy="23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6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273B7-7783-9B28-4CF0-477783015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1A41-219E-193C-DE72-AA0AB17FA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44" y="718121"/>
            <a:ext cx="10571998" cy="970450"/>
          </a:xfrm>
        </p:spPr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コピー機・留守番電話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fotokopi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&amp;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penjawab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otomatis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A8F29CC-980D-1CBC-EA34-B1B0381EC347}"/>
              </a:ext>
            </a:extLst>
          </p:cNvPr>
          <p:cNvSpPr txBox="1">
            <a:spLocks/>
          </p:cNvSpPr>
          <p:nvPr/>
        </p:nvSpPr>
        <p:spPr>
          <a:xfrm>
            <a:off x="2986144" y="-485225"/>
            <a:ext cx="3871856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effectLst>
                  <a:outerShdw blurRad="50800" dir="14400000" algn="ctr" rotWithShape="0">
                    <a:schemeClr val="bg1">
                      <a:alpha val="6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るすばんでんわ</a:t>
            </a:r>
            <a:endParaRPr lang="en-US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AD6849-9B55-A53B-EAC6-A948B0BE0E3C}"/>
              </a:ext>
            </a:extLst>
          </p:cNvPr>
          <p:cNvSpPr txBox="1"/>
          <p:nvPr/>
        </p:nvSpPr>
        <p:spPr>
          <a:xfrm>
            <a:off x="4510141" y="2177504"/>
            <a:ext cx="7123057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ぶ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025D0E-184A-F6B1-C416-42E828BA05ED}"/>
              </a:ext>
            </a:extLst>
          </p:cNvPr>
          <p:cNvSpPr txBox="1"/>
          <p:nvPr/>
        </p:nvSpPr>
        <p:spPr>
          <a:xfrm>
            <a:off x="4510141" y="2701736"/>
            <a:ext cx="7123057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部分（ぶぶん）　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Bagian/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sebagian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部長（ぶちょう）：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Kepala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divisi/manager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学部（がくぶ）　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Fakultas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部屋（へや）　　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C63FA4-4DC1-6B45-AB9B-E09B09459320}"/>
              </a:ext>
            </a:extLst>
          </p:cNvPr>
          <p:cNvSpPr txBox="1"/>
          <p:nvPr/>
        </p:nvSpPr>
        <p:spPr>
          <a:xfrm>
            <a:off x="4510140" y="4067832"/>
            <a:ext cx="7123057" cy="175432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この小説は一部分だけおもしろい。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Novel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Cuma Sebagian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aja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menarik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私は文学部の学生です。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Saya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mahasiswa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fakultas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sastra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部長は今、会議中（かいぎちゅう）です。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Manager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sekarang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sedang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meeting.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40D10F-49C1-CF96-5305-2BAEE15CA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67" y="2177504"/>
            <a:ext cx="4108996" cy="410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62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30F5D-CDCC-DB50-8284-2AE3059BA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4C964-C134-20B9-F542-01CCBED3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44" y="718121"/>
            <a:ext cx="10571998" cy="970450"/>
          </a:xfrm>
        </p:spPr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コピー機・留守番電話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fotokopi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&amp;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penjawab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otomatis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1A724ED-55DB-6C78-4E1F-B362A184B5AC}"/>
              </a:ext>
            </a:extLst>
          </p:cNvPr>
          <p:cNvSpPr txBox="1">
            <a:spLocks/>
          </p:cNvSpPr>
          <p:nvPr/>
        </p:nvSpPr>
        <p:spPr>
          <a:xfrm>
            <a:off x="2986144" y="-485225"/>
            <a:ext cx="3871856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effectLst>
                  <a:outerShdw blurRad="50800" dir="14400000" algn="ctr" rotWithShape="0">
                    <a:schemeClr val="bg1">
                      <a:alpha val="6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るすばんでんわ</a:t>
            </a:r>
            <a:endParaRPr lang="en-US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4FB4F1-81D2-8F61-A18D-03FAF0FA53C1}"/>
              </a:ext>
            </a:extLst>
          </p:cNvPr>
          <p:cNvSpPr txBox="1"/>
          <p:nvPr/>
        </p:nvSpPr>
        <p:spPr>
          <a:xfrm>
            <a:off x="4544008" y="2735837"/>
            <a:ext cx="7123057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かぞ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える 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Menghitung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かず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すう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4A69AA-DD85-A8B1-8A29-7E7614D55D79}"/>
              </a:ext>
            </a:extLst>
          </p:cNvPr>
          <p:cNvSpPr txBox="1"/>
          <p:nvPr/>
        </p:nvSpPr>
        <p:spPr>
          <a:xfrm>
            <a:off x="4544007" y="3852334"/>
            <a:ext cx="7123057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数字（すうじ）　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Angka, digit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数（かず）　　　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Jumlah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数学（すうがく）：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Matematika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9D3732-DA22-8317-3F3F-134A90C32540}"/>
              </a:ext>
            </a:extLst>
          </p:cNvPr>
          <p:cNvSpPr txBox="1"/>
          <p:nvPr/>
        </p:nvSpPr>
        <p:spPr>
          <a:xfrm>
            <a:off x="4544009" y="5028764"/>
            <a:ext cx="7123057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ほしを数える。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Menghitung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bintang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数学がにがてです。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matematika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7AD9AB-237E-7637-ED7D-FD2BEDAD3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67" y="2226732"/>
            <a:ext cx="4110567" cy="411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3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7BB31-8AFF-82D0-9CBE-B4915F5B3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5E8A9-0767-2239-91F2-2CA42F20A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44" y="718121"/>
            <a:ext cx="10571998" cy="970450"/>
          </a:xfrm>
        </p:spPr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コピー機・留守番電話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fotokopi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&amp;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penjawab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otomatis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309457-89B8-1ED0-3AA0-76145E835CAD}"/>
              </a:ext>
            </a:extLst>
          </p:cNvPr>
          <p:cNvSpPr txBox="1">
            <a:spLocks/>
          </p:cNvSpPr>
          <p:nvPr/>
        </p:nvSpPr>
        <p:spPr>
          <a:xfrm>
            <a:off x="2986144" y="-485225"/>
            <a:ext cx="3871856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effectLst>
                  <a:outerShdw blurRad="50800" dir="14400000" algn="ctr" rotWithShape="0">
                    <a:schemeClr val="bg1">
                      <a:alpha val="6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るすばんでんわ</a:t>
            </a:r>
            <a:endParaRPr lang="en-US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21BA2D-6964-D9E7-7F7B-CB825001FD49}"/>
              </a:ext>
            </a:extLst>
          </p:cNvPr>
          <p:cNvSpPr txBox="1"/>
          <p:nvPr/>
        </p:nvSpPr>
        <p:spPr>
          <a:xfrm>
            <a:off x="4577875" y="2443896"/>
            <a:ext cx="7123057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けん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0AB1B0-DF92-FCE1-28D1-FF60DF7B49A8}"/>
              </a:ext>
            </a:extLst>
          </p:cNvPr>
          <p:cNvSpPr txBox="1"/>
          <p:nvPr/>
        </p:nvSpPr>
        <p:spPr>
          <a:xfrm>
            <a:off x="4577875" y="2999226"/>
            <a:ext cx="7123057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件名（けんめい）　　　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Subjek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perihal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(email/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surat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要件（ようけん）　　　：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Keperluan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urusan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事件（じけん）　　　　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Kasus/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insiden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kejadian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biasanya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						  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kriminal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E5C5EA-E5A8-A012-E8A7-189B8C96085A}"/>
              </a:ext>
            </a:extLst>
          </p:cNvPr>
          <p:cNvSpPr txBox="1"/>
          <p:nvPr/>
        </p:nvSpPr>
        <p:spPr>
          <a:xfrm>
            <a:off x="4577875" y="4385553"/>
            <a:ext cx="7123057" cy="175432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メールの件名を書き忘れた。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Lupa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nulis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subject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要件だけさきにメールでおくってください。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Tolong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kirim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keperluannya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lewat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email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terlebih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dahulu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昨日の夜、この近くで事件があったらしい。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Katanya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semalam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kasus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dekat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sini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26343-2857-7855-744B-155A722A5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44" y="2443896"/>
            <a:ext cx="3814053" cy="38140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78184-AEA4-0FD1-3DE1-A76FA22B5A56}"/>
              </a:ext>
            </a:extLst>
          </p:cNvPr>
          <p:cNvSpPr txBox="1"/>
          <p:nvPr/>
        </p:nvSpPr>
        <p:spPr>
          <a:xfrm>
            <a:off x="3052233" y="2998800"/>
            <a:ext cx="610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（ようけん）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80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9620-3538-5A75-4807-33BEB53F6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DE4E-AD82-3CC1-BB21-184AE6BE1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44" y="718121"/>
            <a:ext cx="10571998" cy="970450"/>
          </a:xfrm>
        </p:spPr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コピー機・留守番電話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fotokopi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&amp;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penjawab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otomatis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38124BF-E7DC-C521-8A3C-726E665514E0}"/>
              </a:ext>
            </a:extLst>
          </p:cNvPr>
          <p:cNvSpPr txBox="1">
            <a:spLocks/>
          </p:cNvSpPr>
          <p:nvPr/>
        </p:nvSpPr>
        <p:spPr>
          <a:xfrm>
            <a:off x="2986144" y="-485225"/>
            <a:ext cx="3871856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effectLst>
                  <a:outerShdw blurRad="50800" dir="14400000" algn="ctr" rotWithShape="0">
                    <a:schemeClr val="bg1">
                      <a:alpha val="6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るすばんでんわ</a:t>
            </a:r>
            <a:endParaRPr lang="en-US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5E148-BFA9-BBB7-68B4-D434EC60DA65}"/>
              </a:ext>
            </a:extLst>
          </p:cNvPr>
          <p:cNvSpPr txBox="1"/>
          <p:nvPr/>
        </p:nvSpPr>
        <p:spPr>
          <a:xfrm>
            <a:off x="4577874" y="2166471"/>
            <a:ext cx="7123057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さい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さ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34CCA6-DFCD-9522-3D73-D6679020F45F}"/>
              </a:ext>
            </a:extLst>
          </p:cNvPr>
          <p:cNvSpPr txBox="1"/>
          <p:nvPr/>
        </p:nvSpPr>
        <p:spPr>
          <a:xfrm>
            <a:off x="4577875" y="2999226"/>
            <a:ext cx="7123057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再入国（さいにゅうこく）：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Masuk Kembali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negara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再生（さいせい）　　　　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Regenerasi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/Daur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ulang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再ダイヤル　　　　　　　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Redial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再来週（さらいしゅう）　：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2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minggu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kedepan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F81694-DE6B-5F2B-1A4E-0999070D7E8D}"/>
              </a:ext>
            </a:extLst>
          </p:cNvPr>
          <p:cNvSpPr txBox="1"/>
          <p:nvPr/>
        </p:nvSpPr>
        <p:spPr>
          <a:xfrm>
            <a:off x="4577875" y="4385553"/>
            <a:ext cx="7123057" cy="175432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再入国きょかを取らないと、日本にもどれないよ。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Kalau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ambil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izin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re-entry,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balik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Jepang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lo.</a:t>
            </a:r>
          </a:p>
          <a:p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この動画（どうが）、もう一回再生して。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Video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tolong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putar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sekali</a:t>
            </a:r>
            <a: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lagi</a:t>
            </a:r>
            <a:endParaRPr lang="en-US" altLang="ja-JP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20249-8BCA-F424-5C3D-5BB059A6D54D}"/>
              </a:ext>
            </a:extLst>
          </p:cNvPr>
          <p:cNvSpPr txBox="1"/>
          <p:nvPr/>
        </p:nvSpPr>
        <p:spPr>
          <a:xfrm>
            <a:off x="2578310" y="2812802"/>
            <a:ext cx="610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（ようけん）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64125-FD63-B990-8003-F7CF556A6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68" y="2280679"/>
            <a:ext cx="3859200" cy="38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1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90D9B-7E2C-356E-EA97-DB9418170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520DB5-7331-6AD4-3A34-AD20487C14CA}"/>
              </a:ext>
            </a:extLst>
          </p:cNvPr>
          <p:cNvSpPr txBox="1"/>
          <p:nvPr/>
        </p:nvSpPr>
        <p:spPr>
          <a:xfrm>
            <a:off x="151185" y="201984"/>
            <a:ext cx="11618697" cy="59053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留学：（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そつぎょうできない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外国へ勉強に行く）こと。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用件（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伝えたい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起こった）こと。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件名：電子メールなどの（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アドレス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タイトル）。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保留：しばらく（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外国に住む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そのままにする）こと。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あの選手は（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予防（よぼう）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守備）がうまい。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重要なしょるいを（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書留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快速）でおくる。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両親が出かけて、私は（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留守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留守番）をした。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約束や時間を（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限る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守る）。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4797B08-D825-832A-8F49-E486E34DCB1E}"/>
              </a:ext>
            </a:extLst>
          </p:cNvPr>
          <p:cNvSpPr/>
          <p:nvPr/>
        </p:nvSpPr>
        <p:spPr>
          <a:xfrm>
            <a:off x="5051931" y="317945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E7F0EF8-EE59-991E-BED9-3A4DC5B0C1EA}"/>
              </a:ext>
            </a:extLst>
          </p:cNvPr>
          <p:cNvSpPr/>
          <p:nvPr/>
        </p:nvSpPr>
        <p:spPr>
          <a:xfrm>
            <a:off x="1278243" y="1239452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6AC562-5E97-D2D6-4778-3A286336BAC5}"/>
              </a:ext>
            </a:extLst>
          </p:cNvPr>
          <p:cNvSpPr/>
          <p:nvPr/>
        </p:nvSpPr>
        <p:spPr>
          <a:xfrm>
            <a:off x="5960533" y="1900253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DC09589-1957-D31B-E0DB-45C8FABB6E9A}"/>
              </a:ext>
            </a:extLst>
          </p:cNvPr>
          <p:cNvSpPr/>
          <p:nvPr/>
        </p:nvSpPr>
        <p:spPr>
          <a:xfrm>
            <a:off x="5014045" y="2645069"/>
            <a:ext cx="404642" cy="44809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97DA5F-B1C6-5643-55A7-7F4F08DBA0FE}"/>
              </a:ext>
            </a:extLst>
          </p:cNvPr>
          <p:cNvSpPr/>
          <p:nvPr/>
        </p:nvSpPr>
        <p:spPr>
          <a:xfrm>
            <a:off x="5014045" y="3401921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DDC89B1-DA7D-45AD-01CF-B540A00A28E2}"/>
              </a:ext>
            </a:extLst>
          </p:cNvPr>
          <p:cNvSpPr/>
          <p:nvPr/>
        </p:nvSpPr>
        <p:spPr>
          <a:xfrm>
            <a:off x="3204832" y="4038357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BDBF087-22C5-D58F-708C-5A235391D90D}"/>
              </a:ext>
            </a:extLst>
          </p:cNvPr>
          <p:cNvSpPr/>
          <p:nvPr/>
        </p:nvSpPr>
        <p:spPr>
          <a:xfrm>
            <a:off x="4954371" y="4754652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473A322-3D04-0CC5-9EDF-F0D0D976995D}"/>
              </a:ext>
            </a:extLst>
          </p:cNvPr>
          <p:cNvSpPr/>
          <p:nvPr/>
        </p:nvSpPr>
        <p:spPr>
          <a:xfrm>
            <a:off x="3669148" y="5607725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8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D5EF6-5DB1-34C9-C6C6-C9D80D2B1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0BAC53-A5A4-2F2A-9C80-616F30D784EE}"/>
              </a:ext>
            </a:extLst>
          </p:cNvPr>
          <p:cNvSpPr txBox="1"/>
          <p:nvPr/>
        </p:nvSpPr>
        <p:spPr>
          <a:xfrm>
            <a:off x="2235200" y="1246909"/>
            <a:ext cx="76569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dirty="0"/>
              <a:t>ありがとうございました</a:t>
            </a:r>
            <a:endParaRPr lang="en-US" altLang="ja-JP" sz="4800" dirty="0"/>
          </a:p>
          <a:p>
            <a:pPr algn="ctr"/>
            <a:r>
              <a:rPr lang="ja-JP" altLang="en-US" sz="4800" dirty="0"/>
              <a:t>お疲れさまでした。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2102952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_win32_v2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_win32_v2" id="{774FFE37-89CF-4C62-B7CB-36441A09341B}" vid="{B830AAAD-6172-4FB1-BCB8-2D9519D91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{491E0298-B5F5-4E2C-9817-06A003FC74C7}TF422d6a94-b412-4b4b-8b36-ccdb9da8dac8d8130915_win32-3b4bd71c511d</Template>
  <TotalTime>380</TotalTime>
  <Words>2807</Words>
  <Application>Microsoft Office PowerPoint</Application>
  <PresentationFormat>Widescreen</PresentationFormat>
  <Paragraphs>232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UD Digi Kyokasho N</vt:lpstr>
      <vt:lpstr>Arial</vt:lpstr>
      <vt:lpstr>Calibri</vt:lpstr>
      <vt:lpstr>Century Gothic</vt:lpstr>
      <vt:lpstr>Wingdings 2</vt:lpstr>
      <vt:lpstr>Quotable_win32_v2</vt:lpstr>
      <vt:lpstr>PowerPoint Presentation</vt:lpstr>
      <vt:lpstr>お酒を飲みましょう！ Let’s Drink</vt:lpstr>
      <vt:lpstr>お酒を飲みましょう！ Let’s Drink</vt:lpstr>
      <vt:lpstr>お酒を飲みましょう！ Let’s Drink</vt:lpstr>
      <vt:lpstr>お酒を飲みましょう！ Let’s Drink</vt:lpstr>
      <vt:lpstr>お酒を飲みましょう！ Let’s Drink</vt:lpstr>
      <vt:lpstr>お酒を飲みましょう！ Let’s Drink</vt:lpstr>
      <vt:lpstr>お酒を飲みましょう！ Let’s Drink</vt:lpstr>
      <vt:lpstr>お酒を飲みましょう！ Let’s Drink</vt:lpstr>
      <vt:lpstr>お酒を飲みましょう！ Let’s Drink</vt:lpstr>
      <vt:lpstr>PowerPoint Presentation</vt:lpstr>
      <vt:lpstr>コピー機・留守番電話 Mesin fotokopi &amp; Mesin penjawab otomatis</vt:lpstr>
      <vt:lpstr>コピー機・留守番電話 Mesin fotokopi &amp; Mesin penjawab otomatis</vt:lpstr>
      <vt:lpstr>コピー機・留守番電話 Mesin fotokopi &amp; Mesin penjawab otomatis</vt:lpstr>
      <vt:lpstr>コピー機・留守番電話 Mesin fotokopi &amp; Mesin penjawab otomatis</vt:lpstr>
      <vt:lpstr>コピー機・留守番電話 Mesin fotokopi &amp; Mesin penjawab otomatis</vt:lpstr>
      <vt:lpstr>コピー機・留守番電話 Mesin fotokopi &amp; Mesin penjawab otomatis</vt:lpstr>
      <vt:lpstr>コピー機・留守番電話 Mesin fotokopi &amp; Mesin penjawab otomatis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Febriana Ardiyawati</dc:creator>
  <cp:lastModifiedBy>Febriana Ardiyawati</cp:lastModifiedBy>
  <cp:revision>9</cp:revision>
  <dcterms:created xsi:type="dcterms:W3CDTF">2026-09-28T02:45:32Z</dcterms:created>
  <dcterms:modified xsi:type="dcterms:W3CDTF">2026-10-05T13:56:36Z</dcterms:modified>
</cp:coreProperties>
</file>