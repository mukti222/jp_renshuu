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27"/>
  </p:notesMasterIdLst>
  <p:handoutMasterIdLst>
    <p:handoutMasterId r:id="rId28"/>
  </p:handoutMasterIdLst>
  <p:sldIdLst>
    <p:sldId id="496" r:id="rId5"/>
    <p:sldId id="497" r:id="rId6"/>
    <p:sldId id="507" r:id="rId7"/>
    <p:sldId id="508" r:id="rId8"/>
    <p:sldId id="509" r:id="rId9"/>
    <p:sldId id="510" r:id="rId10"/>
    <p:sldId id="511" r:id="rId11"/>
    <p:sldId id="512" r:id="rId12"/>
    <p:sldId id="513" r:id="rId13"/>
    <p:sldId id="514" r:id="rId14"/>
    <p:sldId id="515" r:id="rId15"/>
    <p:sldId id="516" r:id="rId16"/>
    <p:sldId id="517" r:id="rId17"/>
    <p:sldId id="499" r:id="rId18"/>
    <p:sldId id="518" r:id="rId19"/>
    <p:sldId id="519" r:id="rId20"/>
    <p:sldId id="520" r:id="rId21"/>
    <p:sldId id="521" r:id="rId22"/>
    <p:sldId id="522" r:id="rId23"/>
    <p:sldId id="523" r:id="rId24"/>
    <p:sldId id="524" r:id="rId25"/>
    <p:sldId id="50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8284" autoAdjust="0"/>
  </p:normalViewPr>
  <p:slideViewPr>
    <p:cSldViewPr snapToGrid="0" showGuides="1">
      <p:cViewPr varScale="1">
        <p:scale>
          <a:sx n="96" d="100"/>
          <a:sy n="96" d="100"/>
        </p:scale>
        <p:origin x="1014" y="96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教わる　：</a:t>
            </a:r>
            <a:r>
              <a:rPr lang="en-US" altLang="ja-JP" dirty="0"/>
              <a:t>Pola: </a:t>
            </a:r>
            <a:r>
              <a:rPr lang="ja-JP" altLang="en-US" dirty="0"/>
              <a:t>先生に～を教わる</a:t>
            </a:r>
            <a:endParaRPr lang="en-US" altLang="ja-JP" dirty="0"/>
          </a:p>
          <a:p>
            <a:r>
              <a:rPr lang="ja-JP" altLang="en-US" dirty="0"/>
              <a:t>習う　　；先生に～を習う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452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6A10E-AE5A-2246-122F-613693290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B41DF-AB66-EF15-F67C-2D82F52C0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FB1EE-80F8-B4C0-90D4-CF47247B2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B555A-415D-FB80-AFEA-E40F7DB4F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354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A8C1-4965-C0A9-7001-8C9DDA78B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A8D08-89CF-4F50-0115-CBE30F977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5B7A6-56AB-4528-7624-8F8983551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Murid: </a:t>
            </a:r>
            <a:r>
              <a:rPr lang="ja-JP" altLang="en-US" dirty="0"/>
              <a:t>先生、質問があります！ </a:t>
            </a:r>
            <a:r>
              <a:rPr lang="en-US" altLang="ja-JP" dirty="0"/>
              <a:t>(</a:t>
            </a:r>
            <a:r>
              <a:rPr lang="en-US" dirty="0"/>
              <a:t>Saya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! - murid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nanya</a:t>
            </a:r>
            <a:r>
              <a:rPr lang="en-US" dirty="0"/>
              <a:t>)Guru: </a:t>
            </a:r>
            <a:r>
              <a:rPr lang="ja-JP" altLang="en-US" dirty="0"/>
              <a:t>じゃあ、次の問いに答えてください。 </a:t>
            </a:r>
            <a:r>
              <a:rPr lang="en-US" altLang="ja-JP" dirty="0"/>
              <a:t>(</a:t>
            </a:r>
            <a:r>
              <a:rPr lang="en-US" dirty="0"/>
              <a:t>Kalau </a:t>
            </a:r>
            <a:r>
              <a:rPr lang="en-US" dirty="0" err="1"/>
              <a:t>begitu</a:t>
            </a:r>
            <a:r>
              <a:rPr lang="en-US" dirty="0"/>
              <a:t> </a:t>
            </a:r>
            <a:r>
              <a:rPr lang="en-US" dirty="0" err="1"/>
              <a:t>jawab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- guru </a:t>
            </a:r>
            <a:r>
              <a:rPr lang="en-US" dirty="0" err="1"/>
              <a:t>ngasih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6ADAC-14DB-0254-258C-AF96A4177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847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7BE5F-B8C9-5C7C-E123-29DFACDE8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9D0A2-850F-7909-4248-FFB04164A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6515A-E8E6-9F92-A904-46C09BE77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ADDE9-9E6C-D145-BCA4-CBBFD724A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805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0294B-2C8F-0EDF-2153-43F2C3595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CDDA4-19E6-EB68-E2C9-85706FA6C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2A80B-BED7-BBF0-FB28-858B87B66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37D3B-03B6-20DE-5905-4F6AE07D8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038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1D481-3A1E-2581-8A4B-D0D7B7D4A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37B0E-513E-D666-55E0-C918B26C8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6479C-1AC6-B79F-B2ED-73F510F1A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E3C99-3817-FDBB-634D-2092E955E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218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0B05B-E63F-DCC1-AC45-43AAC24F2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C8429-2EC5-745F-4A59-C5ABB98C9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3AEB8-AE77-210E-4A1E-16CE32241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FBF2B-5E55-04F6-F468-86055BEDA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679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AFFC-2EC3-CE81-111F-374CA9F2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657B6-3F44-0E8D-DE15-9FC5B7BB6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3F8E0-ADE0-DF65-3A0E-F2D086CDF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7B279-72F3-7615-E607-AEC80114E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595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96CDE-0E67-F634-0B1E-158934043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A159D-7C11-6725-7C6B-9B8CD57B5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6FC7F-C08C-99F7-FDF0-2EB97F5BC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C350D-99B6-6280-1B1E-5B84F1141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920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4E209-DF68-CCB9-8376-5412BE51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99C3C-2344-6A87-DAFB-019181A7E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F3DE7-92AF-1252-B0EE-2A0BC6F1A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97BFE-28F0-ABA2-DABE-B23864741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326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F7E30-C680-94DD-B2C5-EAB537191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8956F-2F0D-E1AB-8C4C-82AD7A973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A86D6-BA74-66DD-97DE-58FB579F1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4FE92-E508-1BDF-846C-4E0E1D869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009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FEAEE-8E95-2EB4-5E48-D014F813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F3BB4-8DB4-C015-F3CE-7E30BC059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4547B-5BDA-9CC8-C887-D12F6BFC4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0C9F9-4A51-093B-EA07-64EDEB396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79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20B3-1E22-BDB1-A241-B86700EA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10B00-F109-6413-CAF7-451DEF425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AD91B-C981-43AA-07BA-93D566308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77D2B-1428-A683-98A0-8F49ED294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670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B45F-4AA4-E892-0D87-60B5D9A3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CE03F-DE2F-CD2A-83BA-479CC72B6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7F0FC-C397-A727-16C5-F17F5C96B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0D931-C513-E2FB-FAB6-AD3210C50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4028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B4F9D-4CCE-3640-06BE-88A6CEF16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4D423-733D-ADDE-6EBE-A0C5BFCF7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303C6-949F-30D7-37AB-5823422D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1CB07-B677-7086-FAD0-CC05CD090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744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E43B-A6CD-B458-B5EA-2CD23486B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B9C58-666A-4D07-47E2-7BCA2F486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D43B9-D803-BA07-705E-ED401B09A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税込　ぜいこみ</a:t>
            </a:r>
            <a:r>
              <a:rPr lang="en-US" altLang="ja-JP" sz="1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sdh</a:t>
            </a:r>
            <a:r>
              <a:rPr lang="en-US" altLang="ja-JP" sz="1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termasuk</a:t>
            </a:r>
            <a:r>
              <a:rPr lang="en-US" altLang="ja-JP" sz="1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1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pajak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609F1-4AE2-6949-4CB9-E1517710A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9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552069 w 10515600"/>
              <a:gd name="connsiteY1" fmla="*/ 0 h 27432"/>
              <a:gd name="connsiteX2" fmla="*/ 893826 w 10515600"/>
              <a:gd name="connsiteY2" fmla="*/ 0 h 27432"/>
              <a:gd name="connsiteX3" fmla="*/ 1761363 w 10515600"/>
              <a:gd name="connsiteY3" fmla="*/ 0 h 27432"/>
              <a:gd name="connsiteX4" fmla="*/ 2313432 w 10515600"/>
              <a:gd name="connsiteY4" fmla="*/ 0 h 27432"/>
              <a:gd name="connsiteX5" fmla="*/ 2865501 w 10515600"/>
              <a:gd name="connsiteY5" fmla="*/ 0 h 27432"/>
              <a:gd name="connsiteX6" fmla="*/ 3733038 w 10515600"/>
              <a:gd name="connsiteY6" fmla="*/ 0 h 27432"/>
              <a:gd name="connsiteX7" fmla="*/ 4179951 w 10515600"/>
              <a:gd name="connsiteY7" fmla="*/ 0 h 27432"/>
              <a:gd name="connsiteX8" fmla="*/ 5047488 w 10515600"/>
              <a:gd name="connsiteY8" fmla="*/ 0 h 27432"/>
              <a:gd name="connsiteX9" fmla="*/ 5915025 w 10515600"/>
              <a:gd name="connsiteY9" fmla="*/ 0 h 27432"/>
              <a:gd name="connsiteX10" fmla="*/ 6572250 w 10515600"/>
              <a:gd name="connsiteY10" fmla="*/ 0 h 27432"/>
              <a:gd name="connsiteX11" fmla="*/ 7439787 w 10515600"/>
              <a:gd name="connsiteY11" fmla="*/ 0 h 27432"/>
              <a:gd name="connsiteX12" fmla="*/ 7991856 w 10515600"/>
              <a:gd name="connsiteY12" fmla="*/ 0 h 27432"/>
              <a:gd name="connsiteX13" fmla="*/ 8543925 w 10515600"/>
              <a:gd name="connsiteY13" fmla="*/ 0 h 27432"/>
              <a:gd name="connsiteX14" fmla="*/ 9306306 w 10515600"/>
              <a:gd name="connsiteY14" fmla="*/ 0 h 27432"/>
              <a:gd name="connsiteX15" fmla="*/ 9858375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9753219 w 10515600"/>
              <a:gd name="connsiteY18" fmla="*/ 27432 h 27432"/>
              <a:gd name="connsiteX19" fmla="*/ 9411462 w 10515600"/>
              <a:gd name="connsiteY19" fmla="*/ 27432 h 27432"/>
              <a:gd name="connsiteX20" fmla="*/ 8964549 w 10515600"/>
              <a:gd name="connsiteY20" fmla="*/ 27432 h 27432"/>
              <a:gd name="connsiteX21" fmla="*/ 8097012 w 10515600"/>
              <a:gd name="connsiteY21" fmla="*/ 27432 h 27432"/>
              <a:gd name="connsiteX22" fmla="*/ 7439787 w 10515600"/>
              <a:gd name="connsiteY22" fmla="*/ 27432 h 27432"/>
              <a:gd name="connsiteX23" fmla="*/ 6992874 w 10515600"/>
              <a:gd name="connsiteY23" fmla="*/ 27432 h 27432"/>
              <a:gd name="connsiteX24" fmla="*/ 6335649 w 10515600"/>
              <a:gd name="connsiteY24" fmla="*/ 27432 h 27432"/>
              <a:gd name="connsiteX25" fmla="*/ 5993892 w 10515600"/>
              <a:gd name="connsiteY25" fmla="*/ 27432 h 27432"/>
              <a:gd name="connsiteX26" fmla="*/ 5652135 w 10515600"/>
              <a:gd name="connsiteY26" fmla="*/ 27432 h 27432"/>
              <a:gd name="connsiteX27" fmla="*/ 4994910 w 10515600"/>
              <a:gd name="connsiteY27" fmla="*/ 27432 h 27432"/>
              <a:gd name="connsiteX28" fmla="*/ 4547997 w 10515600"/>
              <a:gd name="connsiteY28" fmla="*/ 27432 h 27432"/>
              <a:gd name="connsiteX29" fmla="*/ 3785616 w 10515600"/>
              <a:gd name="connsiteY29" fmla="*/ 27432 h 27432"/>
              <a:gd name="connsiteX30" fmla="*/ 3338703 w 10515600"/>
              <a:gd name="connsiteY30" fmla="*/ 27432 h 27432"/>
              <a:gd name="connsiteX31" fmla="*/ 2576322 w 10515600"/>
              <a:gd name="connsiteY31" fmla="*/ 27432 h 27432"/>
              <a:gd name="connsiteX32" fmla="*/ 2234565 w 10515600"/>
              <a:gd name="connsiteY32" fmla="*/ 27432 h 27432"/>
              <a:gd name="connsiteX33" fmla="*/ 1472184 w 10515600"/>
              <a:gd name="connsiteY33" fmla="*/ 27432 h 27432"/>
              <a:gd name="connsiteX34" fmla="*/ 1025271 w 10515600"/>
              <a:gd name="connsiteY34" fmla="*/ 27432 h 27432"/>
              <a:gd name="connsiteX35" fmla="*/ 683514 w 10515600"/>
              <a:gd name="connsiteY35" fmla="*/ 27432 h 27432"/>
              <a:gd name="connsiteX36" fmla="*/ 0 w 10515600"/>
              <a:gd name="connsiteY36" fmla="*/ 27432 h 27432"/>
              <a:gd name="connsiteX37" fmla="*/ 0 w 10515600"/>
              <a:gd name="connsiteY37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onnsiteX0" fmla="*/ 0 w 3877056"/>
              <a:gd name="connsiteY0" fmla="*/ 0 h 27432"/>
              <a:gd name="connsiteX1" fmla="*/ 723717 w 3877056"/>
              <a:gd name="connsiteY1" fmla="*/ 0 h 27432"/>
              <a:gd name="connsiteX2" fmla="*/ 1408664 w 3877056"/>
              <a:gd name="connsiteY2" fmla="*/ 0 h 27432"/>
              <a:gd name="connsiteX3" fmla="*/ 2093610 w 3877056"/>
              <a:gd name="connsiteY3" fmla="*/ 0 h 27432"/>
              <a:gd name="connsiteX4" fmla="*/ 2623475 w 3877056"/>
              <a:gd name="connsiteY4" fmla="*/ 0 h 27432"/>
              <a:gd name="connsiteX5" fmla="*/ 3192109 w 3877056"/>
              <a:gd name="connsiteY5" fmla="*/ 0 h 27432"/>
              <a:gd name="connsiteX6" fmla="*/ 3877056 w 3877056"/>
              <a:gd name="connsiteY6" fmla="*/ 0 h 27432"/>
              <a:gd name="connsiteX7" fmla="*/ 3877056 w 3877056"/>
              <a:gd name="connsiteY7" fmla="*/ 27432 h 27432"/>
              <a:gd name="connsiteX8" fmla="*/ 3230880 w 3877056"/>
              <a:gd name="connsiteY8" fmla="*/ 27432 h 27432"/>
              <a:gd name="connsiteX9" fmla="*/ 2701016 w 3877056"/>
              <a:gd name="connsiteY9" fmla="*/ 27432 h 27432"/>
              <a:gd name="connsiteX10" fmla="*/ 2171151 w 3877056"/>
              <a:gd name="connsiteY10" fmla="*/ 27432 h 27432"/>
              <a:gd name="connsiteX11" fmla="*/ 1486205 w 3877056"/>
              <a:gd name="connsiteY11" fmla="*/ 27432 h 27432"/>
              <a:gd name="connsiteX12" fmla="*/ 917570 w 3877056"/>
              <a:gd name="connsiteY12" fmla="*/ 27432 h 27432"/>
              <a:gd name="connsiteX13" fmla="*/ 0 w 3877056"/>
              <a:gd name="connsiteY13" fmla="*/ 27432 h 27432"/>
              <a:gd name="connsiteX14" fmla="*/ 0 w 3877056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gi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語彙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A2D86-784C-417D-9AD4-AF18311FBC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sz="3200" b="1" dirty="0">
                <a:solidFill>
                  <a:schemeClr val="bg1"/>
                </a:solidFill>
              </a:rPr>
              <a:t>Anna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A1D1-DD07-4DD2-A527-4B1F52D6A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FB1174E7-663C-2028-AA9B-ADBF5406C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C8496-0D63-4559-BFA5-683F5780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3B9A3C-6BDA-9F11-A769-D12CA9A2B522}"/>
              </a:ext>
            </a:extLst>
          </p:cNvPr>
          <p:cNvSpPr txBox="1"/>
          <p:nvPr/>
        </p:nvSpPr>
        <p:spPr>
          <a:xfrm>
            <a:off x="838200" y="735518"/>
            <a:ext cx="648540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学校へ行きましょう③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CC7F10-8851-0B5C-4400-672B0EBFB5B9}"/>
              </a:ext>
            </a:extLst>
          </p:cNvPr>
          <p:cNvSpPr txBox="1"/>
          <p:nvPr/>
        </p:nvSpPr>
        <p:spPr>
          <a:xfrm>
            <a:off x="768096" y="1827828"/>
            <a:ext cx="10806545" cy="489364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答えを～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81038" indent="-342900">
              <a:buFont typeface="Courier New" panose="02070309020205020404" pitchFamily="49" charset="0"/>
              <a:buChar char="o"/>
            </a:pP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記入する（きにゅう）：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Mengisi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(form)</a:t>
            </a:r>
          </a:p>
          <a:p>
            <a:pPr marL="338138"/>
            <a:r>
              <a:rPr 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答えを記入してください。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/>
            <a:r>
              <a:rPr 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isi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jawabannya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338138"/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81038" indent="-342900">
              <a:buFont typeface="Courier New" panose="02070309020205020404" pitchFamily="49" charset="0"/>
              <a:buChar char="o"/>
            </a:pP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見直す（みなおす）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Verb :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Mengecek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ulang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Melihat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kembali</a:t>
            </a:r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81038" indent="-342900">
              <a:buFont typeface="Courier New" panose="02070309020205020404" pitchFamily="49" charset="0"/>
              <a:buChar char="o"/>
            </a:pP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見直し（みなおし）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Noun :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Pengecekan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ulang</a:t>
            </a:r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/>
            <a:r>
              <a:rPr 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答えを記入したあと、見直しをお願いします。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/>
            <a:r>
              <a:rPr 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mengisi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jawaban,tolong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dicek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ulang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338138"/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81038" indent="-342900">
              <a:buFont typeface="Courier New" panose="02070309020205020404" pitchFamily="49" charset="0"/>
              <a:buChar char="o"/>
            </a:pP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書き直す（かきなおす）：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Menulis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ulang</a:t>
            </a:r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/>
            <a:r>
              <a:rPr 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→　間違えたら、書き直してください。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/>
            <a:r>
              <a:rPr 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Kalau salah, </a:t>
            </a:r>
            <a:r>
              <a:rPr lang="en-US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tulis</a:t>
            </a:r>
            <a:r>
              <a:rPr 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ulang</a:t>
            </a:r>
            <a:r>
              <a:rPr 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284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5869E-9002-3148-9172-AD5CA63F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4E42E-CA45-B3C5-D06A-6CA31157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B5211-E32A-F7CB-A50D-F3F692A0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4BECCD-B70A-A0B6-C9BE-D77795AEB433}"/>
              </a:ext>
            </a:extLst>
          </p:cNvPr>
          <p:cNvSpPr txBox="1"/>
          <p:nvPr/>
        </p:nvSpPr>
        <p:spPr>
          <a:xfrm>
            <a:off x="838200" y="735518"/>
            <a:ext cx="648540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学校へ行きましょう③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5DCDA-0450-0880-4277-D38E77B63F65}"/>
              </a:ext>
            </a:extLst>
          </p:cNvPr>
          <p:cNvSpPr txBox="1"/>
          <p:nvPr/>
        </p:nvSpPr>
        <p:spPr>
          <a:xfrm>
            <a:off x="175428" y="1844761"/>
            <a:ext cx="11881104" cy="489364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答えを～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81038" indent="-342900">
              <a:buFont typeface="Courier New" panose="02070309020205020404" pitchFamily="49" charset="0"/>
              <a:buChar char="o"/>
            </a:pP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間違う 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まちがう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INT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Salah /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keliru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fokus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orangnya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salah)</a:t>
            </a:r>
          </a:p>
          <a:p>
            <a:pPr marL="681038" indent="-342900">
              <a:buFont typeface="Courier New" panose="02070309020205020404" pitchFamily="49" charset="0"/>
              <a:buChar char="o"/>
            </a:pP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間違える 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まちがえる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)TRA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Membuat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kesalahan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fokus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benda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						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disalahkan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338138"/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/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道が間違っていませんでした。</a:t>
            </a:r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/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Jalannya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salah.</a:t>
            </a:r>
          </a:p>
          <a:p>
            <a:pPr marL="338138"/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/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答えを間違ってしまった。</a:t>
            </a:r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/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Salah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jawab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pertanyaan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338138"/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/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Note : 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間違う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&amp;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間違える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artinya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“salah”,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kalau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objeknya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nomor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ukuran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natural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間違える。</a:t>
            </a:r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990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D322-A927-68C5-15ED-0DD96A58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C715-8F86-4AD0-27DC-5B017324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4FF2-E7EC-9808-2CF0-7DACDFE6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9A8351-F987-A0C7-5F87-E8301D71D750}"/>
              </a:ext>
            </a:extLst>
          </p:cNvPr>
          <p:cNvSpPr txBox="1"/>
          <p:nvPr/>
        </p:nvSpPr>
        <p:spPr>
          <a:xfrm>
            <a:off x="838200" y="735518"/>
            <a:ext cx="648540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学校へ行きましょう③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CAC6BC-7A19-FC6A-4DB4-E38C14E110F7}"/>
              </a:ext>
            </a:extLst>
          </p:cNvPr>
          <p:cNvSpPr txBox="1"/>
          <p:nvPr/>
        </p:nvSpPr>
        <p:spPr>
          <a:xfrm>
            <a:off x="175428" y="1844761"/>
            <a:ext cx="11881104" cy="489364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レポートを～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30238" indent="-342900">
              <a:buFont typeface="Courier New" panose="02070309020205020404" pitchFamily="49" charset="0"/>
              <a:buChar char="o"/>
            </a:pP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まとめる：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Mengumpulkan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merangkum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(data,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bukti,dll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287338"/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図書館で本を集めて、レポートにまとめた。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7338"/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Ngumpulin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buku-buku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perpus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terus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dirangkum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laporan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7338"/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7338"/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Note 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集める ：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mengumplkan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benda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dijadikan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satu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tempaat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7338"/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まとめる：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Ngumpulin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data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buat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bikin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laporan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/Kesimpulan.</a:t>
            </a:r>
          </a:p>
          <a:p>
            <a:pPr marL="287338"/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30238" indent="-342900">
              <a:buFont typeface="Courier New" panose="02070309020205020404" pitchFamily="49" charset="0"/>
              <a:buChar char="o"/>
            </a:pP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仕上げる 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しあげる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: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Menyelesaikan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sampai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tuntas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finishing</a:t>
            </a:r>
          </a:p>
          <a:p>
            <a:pPr marL="287338"/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→夏休みの宿題を仕上げる。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7338"/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Menyelesaikan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PR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liburan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musim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panas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sampai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beres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630238" indent="-342900">
              <a:buFont typeface="Courier New" panose="02070309020205020404" pitchFamily="49" charset="0"/>
              <a:buChar char="o"/>
            </a:pP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提出する 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ていしゅつする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menyerahkan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tugas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guru)</a:t>
            </a:r>
          </a:p>
          <a:p>
            <a:pPr marL="287338"/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レポートを先生に提出する。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Mengumpulkan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laporan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guru.</a:t>
            </a:r>
          </a:p>
        </p:txBody>
      </p:sp>
    </p:spTree>
    <p:extLst>
      <p:ext uri="{BB962C8B-B14F-4D97-AF65-F5344CB8AC3E}">
        <p14:creationId xmlns:p14="http://schemas.microsoft.com/office/powerpoint/2010/main" val="93638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9F80F-E739-6268-EF35-0DAA64F3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2F6B-968A-6AA8-4FAF-4FC4A1FE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D5362-10C6-8BD3-D877-679D8AA6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BB2D95-CCF9-3E59-1B56-D3B1D2D0E972}"/>
              </a:ext>
            </a:extLst>
          </p:cNvPr>
          <p:cNvSpPr txBox="1"/>
          <p:nvPr/>
        </p:nvSpPr>
        <p:spPr>
          <a:xfrm>
            <a:off x="838200" y="735518"/>
            <a:ext cx="648540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学校へ行きましょう③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2AD9ED-E003-6CC6-B12E-8474CD1A892A}"/>
              </a:ext>
            </a:extLst>
          </p:cNvPr>
          <p:cNvSpPr txBox="1"/>
          <p:nvPr/>
        </p:nvSpPr>
        <p:spPr>
          <a:xfrm>
            <a:off x="175428" y="1844761"/>
            <a:ext cx="11881104" cy="489364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 担当 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たんとう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　：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Penanggung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jawab</a:t>
            </a:r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担当者（たんとうしゃ）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PIC,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ketua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kelas</a:t>
            </a:r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</a:p>
          <a:p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田中先生が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年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組の担任を担当しています。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Guru Tanaka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bertanggung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jawab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wali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kelas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2-1.</a:t>
            </a:r>
          </a:p>
          <a:p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教わる 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おそわる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：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Diajari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　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kebalikan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教える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田中先生に日本語を教わる。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Diajari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bahasa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Jepang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OLEH guru Tanaka.</a:t>
            </a:r>
          </a:p>
          <a:p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Note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：教わる 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おそわる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=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Diajari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ORANGNYA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Fokusnya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SIAPA yang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ngajarin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習う 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ならう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=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Mempelajari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PELAJARANNYA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Fokusnya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APA yang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pelajari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siapa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160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0EFF2-6A62-6AD5-4DBD-CF24198F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CCA30-ED23-7748-D695-5BFB6CBD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FBD29-E5AE-ED86-5002-5BD93494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860FA3-C0DF-D763-12C7-A130E51E32E1}"/>
              </a:ext>
            </a:extLst>
          </p:cNvPr>
          <p:cNvSpPr txBox="1"/>
          <p:nvPr/>
        </p:nvSpPr>
        <p:spPr>
          <a:xfrm>
            <a:off x="768096" y="693298"/>
            <a:ext cx="648540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学校へ行きましょう③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728D3-3D60-73D4-8BC9-CC4B3E6330FB}"/>
              </a:ext>
            </a:extLst>
          </p:cNvPr>
          <p:cNvSpPr txBox="1"/>
          <p:nvPr/>
        </p:nvSpPr>
        <p:spPr>
          <a:xfrm>
            <a:off x="234634" y="1550829"/>
            <a:ext cx="11881104" cy="517064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 繰り返す 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くりかえす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sz="2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Mengulangi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（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Verb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）</a:t>
            </a:r>
            <a:endParaRPr lang="en-US" altLang="ja-JP" sz="2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繰り返し 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くりかえし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sz="2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Pengulangan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Noun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）</a:t>
            </a:r>
            <a:endParaRPr lang="en-US" altLang="ja-JP" sz="2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ja-JP" sz="2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同じ漢字を何度も繰り返す。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Mengulang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kanji yang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sama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berkali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-kali.</a:t>
            </a:r>
          </a:p>
          <a:p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繰り返し練習することが大切です。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Latihan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berulang-ulang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penting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sz="2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暗記する 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あんきする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sz="2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Menghafal</a:t>
            </a:r>
            <a:endParaRPr lang="en-US" altLang="ja-JP" sz="2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英単語を暗記する。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Menghafal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kosakata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bahasa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Inggris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sz="2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Note : 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覚える 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おぼえる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=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Mengingat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Menghafal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umum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)Ini yang paling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umum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	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apa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aja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Ingat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secara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alami.</a:t>
            </a:r>
            <a:r>
              <a:rPr lang="en-US" altLang="ja-JP" sz="2200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Kebalikan</a:t>
            </a:r>
            <a:r>
              <a:rPr lang="en-US" altLang="ja-JP" sz="22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ja-JP" altLang="en-US" sz="22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忘れる </a:t>
            </a:r>
            <a:r>
              <a:rPr lang="en-US" altLang="ja-JP" sz="22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en-US" altLang="ja-JP" sz="2200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lupa</a:t>
            </a:r>
            <a:r>
              <a:rPr lang="en-US" altLang="ja-JP" sz="22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暗記する 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あんきする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=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Menghafal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mati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mati-matian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Fokusnya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sz="2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USAHA KERAS 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ujian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Dihafal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paksa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otak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diulang-ulang</a:t>
            </a:r>
            <a:r>
              <a:rPr lang="en-US" altLang="ja-JP" sz="2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altLang="ja-JP" sz="2200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Kebalikan</a:t>
            </a:r>
            <a:r>
              <a:rPr lang="en-US" altLang="ja-JP" sz="22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sz="2200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bukan</a:t>
            </a:r>
            <a:r>
              <a:rPr lang="en-US" altLang="ja-JP" sz="22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lupa</a:t>
            </a:r>
            <a:r>
              <a:rPr lang="en-US" altLang="ja-JP" sz="22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	</a:t>
            </a:r>
            <a:r>
              <a:rPr lang="en-US" altLang="ja-JP" sz="2200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22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belum</a:t>
            </a:r>
            <a:r>
              <a:rPr lang="en-US" altLang="ja-JP" sz="22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hafal</a:t>
            </a:r>
            <a:r>
              <a:rPr lang="en-US" altLang="ja-JP" sz="22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582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37214-3806-EB9E-99AB-E5ADB4FE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AD498-33C7-5D11-6C61-73F541A1F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CA6DC-C2C6-898F-EB3A-69040D0B7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17C39B-1E52-BD5D-F7B3-861A72DB9FA9}"/>
              </a:ext>
            </a:extLst>
          </p:cNvPr>
          <p:cNvSpPr txBox="1"/>
          <p:nvPr/>
        </p:nvSpPr>
        <p:spPr>
          <a:xfrm>
            <a:off x="768096" y="693298"/>
            <a:ext cx="648540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学校へ行きましょう③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2CDD2-C5BC-DA82-89AB-8FEE2FEB6EDD}"/>
              </a:ext>
            </a:extLst>
          </p:cNvPr>
          <p:cNvSpPr txBox="1"/>
          <p:nvPr/>
        </p:nvSpPr>
        <p:spPr>
          <a:xfrm>
            <a:off x="155448" y="1862812"/>
            <a:ext cx="11881104" cy="4493538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問われる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とわれる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Ditanyai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diuji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（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Verb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）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問い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とい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　　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Pertanyaan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soal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(formal)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（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Noun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）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テストで文法が問われる。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Tata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bahasa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diujikan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Note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：質問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しつもん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=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Pertanyaan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sehari-hari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)Ini yang paling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sering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	  Kalau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bingung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dan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mau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nanya.Fokus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MAU TAU JAWABANNYA.</a:t>
            </a: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問い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とい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=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Pertanyaan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Permasalahan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(formal)Ini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pertanyaan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disiapkan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buku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ujian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Atau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pertanyaan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filosofis.Fokus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	SOALNYA ITU SENDIRI.</a:t>
            </a: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Jadi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kalau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kelas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mau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angkat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tangan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bilang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質問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jangan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問い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168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A5C5-C054-24CD-B5A2-514BAE88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05F3-4EC7-EC7A-B87A-08D40B12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6A523-0AC3-8CB0-27B8-254C3FA8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1C2B66-7FA9-B946-DAAF-A9A8A4951005}"/>
              </a:ext>
            </a:extLst>
          </p:cNvPr>
          <p:cNvSpPr txBox="1"/>
          <p:nvPr/>
        </p:nvSpPr>
        <p:spPr>
          <a:xfrm>
            <a:off x="768096" y="693298"/>
            <a:ext cx="648540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学校へ行きましょう③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3F6F3B-C954-0A1A-EE2D-608DF2544702}"/>
              </a:ext>
            </a:extLst>
          </p:cNvPr>
          <p:cNvSpPr txBox="1"/>
          <p:nvPr/>
        </p:nvSpPr>
        <p:spPr>
          <a:xfrm>
            <a:off x="155448" y="1862812"/>
            <a:ext cx="11881104" cy="483209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落ち着いて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おちついて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: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tenang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落ち着いて答えてください。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jawab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tenang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(guru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murid yang 	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gugup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聞き直す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ききなおす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Mendengarkan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ulang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bertanya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ulang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dengar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聞き取れなかったので、もう一度聞き直した。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terdengar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saya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dengarkan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ulang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言い直す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いいなおす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Mengucapkan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ulang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mengoreksi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ucapan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先生が言い直してくれた。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Guru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mengucapkan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ulang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saya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membetulkan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7787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A610-D5C4-0A57-A8D9-F2F9783BB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01442-7BD2-C283-5470-11498C94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6A6CB-1A6D-0FFC-FC57-E6121AC9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F8ABE-C04B-BF04-FC1F-72B8486B4262}"/>
              </a:ext>
            </a:extLst>
          </p:cNvPr>
          <p:cNvSpPr txBox="1"/>
          <p:nvPr/>
        </p:nvSpPr>
        <p:spPr>
          <a:xfrm>
            <a:off x="768096" y="693298"/>
            <a:ext cx="648540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学校へ行きましょう③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9A238D-8939-25E1-3FE8-6E4578B58D7A}"/>
              </a:ext>
            </a:extLst>
          </p:cNvPr>
          <p:cNvSpPr txBox="1"/>
          <p:nvPr/>
        </p:nvSpPr>
        <p:spPr>
          <a:xfrm>
            <a:off x="155448" y="1862812"/>
            <a:ext cx="11881104" cy="483209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聞き取る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ききとる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: </a:t>
            </a:r>
            <a:r>
              <a:rPr lang="fi-FI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Menyimak (Verb)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聞き取り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ききとり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: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menyimak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(Noun)</a:t>
            </a: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先生の話を聞き取る。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Menyimak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perkataan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guru.</a:t>
            </a:r>
          </a:p>
          <a:p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聞き取りテストが難しい。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Tes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listening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sulit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書き取る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かきとる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sv-SE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Mencatat apa yang didengar (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Verb</a:t>
            </a:r>
            <a:r>
              <a:rPr lang="sv-SE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書き取り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かきとり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Dikte /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ujian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tulis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(Noun)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先生が言ったことをノートに書き取る。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Mencatat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guru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bilang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buku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漢字の書き取りテスト。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Tes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dikte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kanji.</a:t>
            </a:r>
          </a:p>
          <a:p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結果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けっか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　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Hasil</a:t>
            </a: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テストの結果が良かった。 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Hasil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tesnya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bagus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584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71603-CBA1-849B-6756-8EF86BD5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42CAC-22A5-C891-C996-9E1B2D13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1777FB-FD86-4DD1-081B-C511EE93F73B}"/>
              </a:ext>
            </a:extLst>
          </p:cNvPr>
          <p:cNvSpPr txBox="1"/>
          <p:nvPr/>
        </p:nvSpPr>
        <p:spPr>
          <a:xfrm>
            <a:off x="155448" y="399592"/>
            <a:ext cx="11881104" cy="618630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ついている　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fi-FI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Beruntung / ada keberuntungan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ついていない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Sial /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beruntung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今日はついている。テストが簡単だった。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Hari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beruntung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tesnya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gampang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今日はついていない。電車に遅れた。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Hari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sial,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ketinggalan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kereta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済む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すむ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Selesai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宿題が済んだら、遊びに行こう。 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Kalau PR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selesai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main.</a:t>
            </a:r>
          </a:p>
          <a:p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Note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863600" indent="-525463">
              <a:buFont typeface="Courier New" panose="02070309020205020404" pitchFamily="49" charset="0"/>
              <a:buChar char="o"/>
            </a:pP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終わる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おわる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 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EHARI-HARI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Yang paling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umum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Selesai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secara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alami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waktunya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habis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863600" indent="-525463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終了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しゅうりょう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FORMAL / RESMI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Selesai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diumumkan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ditutup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panitia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sistem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863600" indent="-525463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済む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すむ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-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TUGASNYA SELESAI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Selesai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mengerjakannya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Beban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hilang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119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48D34-BF1E-8EDA-52F8-F80179F06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1AE63-D940-0C82-EC24-C0E5750D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108A99-0F59-3FFB-0AFF-316E818E7BB4}"/>
              </a:ext>
            </a:extLst>
          </p:cNvPr>
          <p:cNvSpPr txBox="1"/>
          <p:nvPr/>
        </p:nvSpPr>
        <p:spPr>
          <a:xfrm>
            <a:off x="155448" y="1872793"/>
            <a:ext cx="11881104" cy="483209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カンニングする　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Menyontek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テストでカンニングしてはいけません。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Dilarang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nyontek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saat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tes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下書きをする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したがき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Membuat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konsep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kasar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draf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清書する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せいしょする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final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draf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作文の下書きをする。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Membuat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draf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karangan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今月のしゅじの清書をていしゅつした。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  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mengumpulkan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final draft Latihan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kaligrafi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bulan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提出期限を守る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ていしゅつきげんをまもる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):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Mematuhi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batas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waktu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pengumpulan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レポートの提出期限を守ってください。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patuhi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deadline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pengumpulan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laporan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B2FFB-4DD1-8EE3-7F28-FC2E53A49D0C}"/>
              </a:ext>
            </a:extLst>
          </p:cNvPr>
          <p:cNvSpPr txBox="1"/>
          <p:nvPr/>
        </p:nvSpPr>
        <p:spPr>
          <a:xfrm>
            <a:off x="768096" y="693298"/>
            <a:ext cx="648540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学校へ行きましょう③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173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7EE1-D2BC-D2E6-AC6E-8F710E2EA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9CE6A-7C34-9981-F5AC-FEE87E86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E75FCA-3154-CC1F-AC14-CCBBA69BA62B}"/>
              </a:ext>
            </a:extLst>
          </p:cNvPr>
          <p:cNvSpPr txBox="1"/>
          <p:nvPr/>
        </p:nvSpPr>
        <p:spPr>
          <a:xfrm>
            <a:off x="155448" y="2097948"/>
            <a:ext cx="11881104" cy="40667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テストで答えを（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見直す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問われる）時間がなかった。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先生の話をノートに（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聞き取った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書き取った）。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混んでいる電車で座ることができて（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ついている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落ち着いている）。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試験が（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仕上げて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済んで）よかった。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今日の授業でけいごを（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教わった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予習した）。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先生の言ったことを（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書き取った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下書きした）。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5CF85-9E22-D29D-CD0D-96CF4749A147}"/>
              </a:ext>
            </a:extLst>
          </p:cNvPr>
          <p:cNvSpPr txBox="1"/>
          <p:nvPr/>
        </p:nvSpPr>
        <p:spPr>
          <a:xfrm>
            <a:off x="768096" y="693298"/>
            <a:ext cx="648540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学校へ行きましょう③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BBDEFFC-5596-F7CF-0F8F-7F4BB4B8C696}"/>
              </a:ext>
            </a:extLst>
          </p:cNvPr>
          <p:cNvSpPr/>
          <p:nvPr/>
        </p:nvSpPr>
        <p:spPr>
          <a:xfrm>
            <a:off x="2698496" y="2299854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D902330-B618-B75E-0798-351D7C421A68}"/>
              </a:ext>
            </a:extLst>
          </p:cNvPr>
          <p:cNvSpPr/>
          <p:nvPr/>
        </p:nvSpPr>
        <p:spPr>
          <a:xfrm>
            <a:off x="5233878" y="3017981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5A5F78-DD71-F29C-D75F-F8AB9CF36408}"/>
              </a:ext>
            </a:extLst>
          </p:cNvPr>
          <p:cNvSpPr/>
          <p:nvPr/>
        </p:nvSpPr>
        <p:spPr>
          <a:xfrm>
            <a:off x="5233878" y="3678743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7A3DEC-B288-021B-E684-5D324E542696}"/>
              </a:ext>
            </a:extLst>
          </p:cNvPr>
          <p:cNvSpPr/>
          <p:nvPr/>
        </p:nvSpPr>
        <p:spPr>
          <a:xfrm>
            <a:off x="3241964" y="4385325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3DB296-EE29-E5D6-22F0-E241C65F3D7D}"/>
              </a:ext>
            </a:extLst>
          </p:cNvPr>
          <p:cNvSpPr/>
          <p:nvPr/>
        </p:nvSpPr>
        <p:spPr>
          <a:xfrm>
            <a:off x="3513698" y="5048722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805929-ADB7-7F4B-F9B4-B7370CBDEBFF}"/>
              </a:ext>
            </a:extLst>
          </p:cNvPr>
          <p:cNvSpPr/>
          <p:nvPr/>
        </p:nvSpPr>
        <p:spPr>
          <a:xfrm>
            <a:off x="3241964" y="5635470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19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8B468-7FF1-7A63-2431-C495C8E41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7ACF9-4526-1519-94B7-008E6F30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CD319-9CAC-128E-D80E-94125B15763C}"/>
              </a:ext>
            </a:extLst>
          </p:cNvPr>
          <p:cNvSpPr txBox="1"/>
          <p:nvPr/>
        </p:nvSpPr>
        <p:spPr>
          <a:xfrm>
            <a:off x="155448" y="2097948"/>
            <a:ext cx="11881104" cy="271253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ここに、住所と名前を（　　　）ください。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見直し　　ｂ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書き直し　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記入して　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予習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 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レポートの提出（　　）は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9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月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30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日です。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期限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b.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結果　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担当　　</a:t>
            </a:r>
            <a:r>
              <a:rPr lang="en-US" altLang="ja-JP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d.</a:t>
            </a:r>
            <a:r>
              <a:rPr lang="ja-JP" altLang="en-US" sz="22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記入</a:t>
            </a:r>
            <a:endParaRPr lang="en-US" altLang="ja-JP" sz="22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8FDFC-CD1B-E123-BA67-D0756B9212B9}"/>
              </a:ext>
            </a:extLst>
          </p:cNvPr>
          <p:cNvSpPr txBox="1"/>
          <p:nvPr/>
        </p:nvSpPr>
        <p:spPr>
          <a:xfrm>
            <a:off x="768096" y="693298"/>
            <a:ext cx="648540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学校へ行きましょう③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24B4210-B106-FE4B-CF08-9CB23A8B5B3C}"/>
              </a:ext>
            </a:extLst>
          </p:cNvPr>
          <p:cNvSpPr/>
          <p:nvPr/>
        </p:nvSpPr>
        <p:spPr>
          <a:xfrm>
            <a:off x="4693550" y="2939472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E92053-858C-B4E6-BB4E-A187BD5541DC}"/>
              </a:ext>
            </a:extLst>
          </p:cNvPr>
          <p:cNvSpPr/>
          <p:nvPr/>
        </p:nvSpPr>
        <p:spPr>
          <a:xfrm>
            <a:off x="936566" y="4357903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3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8000" dirty="0">
                <a:solidFill>
                  <a:schemeClr val="bg1"/>
                </a:solidFill>
              </a:rPr>
              <a:t>漢字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Anna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432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5939-CCCB-2623-62A8-EC3B0473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A62DF-9AFF-284E-2051-B2DE54C93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EC347A-CA79-72BB-C6EE-FF83F064DFCA}"/>
              </a:ext>
            </a:extLst>
          </p:cNvPr>
          <p:cNvSpPr txBox="1"/>
          <p:nvPr/>
        </p:nvSpPr>
        <p:spPr>
          <a:xfrm>
            <a:off x="728103" y="1836664"/>
            <a:ext cx="6793253" cy="2123658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こめ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beras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べい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米国（べいこく）：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Amerika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Serikat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彼は米国に留学している。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sedang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belajar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Amerika</a:t>
            </a:r>
            <a:endParaRPr lang="en-US" altLang="ja-JP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918CC-CCE1-8622-09F7-4C39BEFE6286}"/>
              </a:ext>
            </a:extLst>
          </p:cNvPr>
          <p:cNvSpPr txBox="1"/>
          <p:nvPr/>
        </p:nvSpPr>
        <p:spPr>
          <a:xfrm>
            <a:off x="463296" y="388498"/>
            <a:ext cx="6485405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通信販売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Online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926832-FC59-07F5-4721-E6BB64B2DD3A}"/>
              </a:ext>
            </a:extLst>
          </p:cNvPr>
          <p:cNvSpPr txBox="1"/>
          <p:nvPr/>
        </p:nvSpPr>
        <p:spPr>
          <a:xfrm>
            <a:off x="728103" y="4405433"/>
            <a:ext cx="6793254" cy="2123658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か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価格（かかく）：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Harga (formal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bisnis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定価（ていか）：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Harga bandrol/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resmi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定価より安く買った。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Beli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murah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harga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resmi</a:t>
            </a:r>
            <a:endParaRPr lang="en-US" altLang="ja-J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86BF3-85F4-C92B-7723-6D5DBAA95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359" y="4351960"/>
            <a:ext cx="2434167" cy="24341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5CEE68-AD11-1BD7-2A62-5B90F72EB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359" y="1780433"/>
            <a:ext cx="2434166" cy="243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4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47B8A-44C6-1AB0-DD8F-9E5E89BBA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45F53-A2D6-D726-B4CE-D1FE8B73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B6B6DB-79B5-87C1-0D29-5329275675AC}"/>
              </a:ext>
            </a:extLst>
          </p:cNvPr>
          <p:cNvSpPr txBox="1"/>
          <p:nvPr/>
        </p:nvSpPr>
        <p:spPr>
          <a:xfrm>
            <a:off x="711170" y="1975964"/>
            <a:ext cx="6793253" cy="4493538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きゅう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高級（こうきゅう）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Mewah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Kelas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Tentang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BARANGNYA. Mahal,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kualitas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bagus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mewah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上級（じょうきゅう）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Tingkat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Mahir (Skill /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kelas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level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tinggi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中級（ちゅうきゅう）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Tingkat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menengah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(level)</a:t>
            </a: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私は日本語の上級クラスで勉強しています。　　　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Saya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belajar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kelas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bahasa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Jepang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tingkat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altLang="ja-JP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56747-C1CA-AE2D-8A74-D72BA550A27C}"/>
              </a:ext>
            </a:extLst>
          </p:cNvPr>
          <p:cNvSpPr txBox="1"/>
          <p:nvPr/>
        </p:nvSpPr>
        <p:spPr>
          <a:xfrm>
            <a:off x="463296" y="388498"/>
            <a:ext cx="6485405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通信販売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Online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67D20-01B1-5940-863F-B38527355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300" y="2332566"/>
            <a:ext cx="34925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88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7201B-B287-30AB-DD75-EDB59A1EA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35343-D6CA-3762-71B8-9944E4F8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760DA2-9A4B-939A-F11E-373720B2506D}"/>
              </a:ext>
            </a:extLst>
          </p:cNvPr>
          <p:cNvSpPr txBox="1"/>
          <p:nvPr/>
        </p:nvSpPr>
        <p:spPr>
          <a:xfrm>
            <a:off x="463296" y="2297697"/>
            <a:ext cx="6793253" cy="347787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のこ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 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(INT)  : Sisa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のこ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す（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TRA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）：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Menyisakan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ざん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残り（のこり）：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Sisanya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残業（ざんぎょう）：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Lembur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今日は残業があるので、クラスに入りません。　　　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lembur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masuk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kelas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altLang="ja-JP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82FEB-1C24-EAA0-F4A8-1E60C330CD29}"/>
              </a:ext>
            </a:extLst>
          </p:cNvPr>
          <p:cNvSpPr txBox="1"/>
          <p:nvPr/>
        </p:nvSpPr>
        <p:spPr>
          <a:xfrm>
            <a:off x="463296" y="388498"/>
            <a:ext cx="6485405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通信販売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Online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FDF144-D79D-BB65-2D37-C4EA4836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767" y="2297697"/>
            <a:ext cx="32385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3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0C0F0-9222-E7F4-CABB-583C29B32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DF130-1BE4-2D4F-7D11-6002CF55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D7484A-58CD-98F9-5DA6-CF5AEECB25BA}"/>
              </a:ext>
            </a:extLst>
          </p:cNvPr>
          <p:cNvSpPr txBox="1"/>
          <p:nvPr/>
        </p:nvSpPr>
        <p:spPr>
          <a:xfrm>
            <a:off x="463296" y="2297697"/>
            <a:ext cx="6793253" cy="381642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かた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大型（おおがた）：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Ukuran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besar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小型（こがた）　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Ukuran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kecil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新型（しんがた）：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Model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tipe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新型は大型と小型をご用意（ようひ）してお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ります。　　　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Model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tersedia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ukuran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besar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dan 	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kecil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(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sopan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banget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endParaRPr lang="en-US" altLang="ja-JP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08E86-1B7D-F966-20BA-F9B7DE2A75B3}"/>
              </a:ext>
            </a:extLst>
          </p:cNvPr>
          <p:cNvSpPr txBox="1"/>
          <p:nvPr/>
        </p:nvSpPr>
        <p:spPr>
          <a:xfrm>
            <a:off x="463296" y="388498"/>
            <a:ext cx="6485405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通信販売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Online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A394C-3B99-664F-0A5D-0B5C74E03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599" y="2065371"/>
            <a:ext cx="3710201" cy="371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2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0B0CC-DEF5-67A0-A9E6-4641FDD01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26B75-31E2-8A47-5FFB-A01B990E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4C720-37B7-BA02-3464-4F5579DF2E6C}"/>
              </a:ext>
            </a:extLst>
          </p:cNvPr>
          <p:cNvSpPr txBox="1"/>
          <p:nvPr/>
        </p:nvSpPr>
        <p:spPr>
          <a:xfrm>
            <a:off x="463296" y="2297697"/>
            <a:ext cx="6793253" cy="381642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こ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む　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Padat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/crowded</a:t>
            </a: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*Bisa juga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kanji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「混む」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振り込む（ふりこむ）：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Transfer (uang)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税混む（ぜいこむ）　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termasuk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pajak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税抜き（ぜいぬき）　：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blm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termasuk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pajak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全て税込み価格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かかく）ですね。こちらの口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座（こうざ）へお振り込みください。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semua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harga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termasuk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pajak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	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silahkan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transfer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nomor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rekening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altLang="ja-JP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48FA3-78B3-174A-A06C-0F58141BB9FA}"/>
              </a:ext>
            </a:extLst>
          </p:cNvPr>
          <p:cNvSpPr txBox="1"/>
          <p:nvPr/>
        </p:nvSpPr>
        <p:spPr>
          <a:xfrm>
            <a:off x="463296" y="388498"/>
            <a:ext cx="6485405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通信販売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Online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25143-DE03-442D-5266-A8FE5F333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100" y="2349595"/>
            <a:ext cx="3577167" cy="357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4979A-7401-9EBE-CADC-09B8FBB9C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069AE-AAF3-F541-9534-482FFBA0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7300C0-CE7B-AC14-3720-194B13680A0F}"/>
              </a:ext>
            </a:extLst>
          </p:cNvPr>
          <p:cNvSpPr txBox="1"/>
          <p:nvPr/>
        </p:nvSpPr>
        <p:spPr>
          <a:xfrm>
            <a:off x="728103" y="1836664"/>
            <a:ext cx="6793253" cy="2462213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ぜい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消費税（しょうひぜい）：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PPN (Pajak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konsumsi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税金（ぜいきん）　　　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Pajak</a:t>
            </a: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 消費税込みで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1100</a:t>
            </a: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円です。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termasuk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pajak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jadi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1100 yen.</a:t>
            </a:r>
            <a:endParaRPr lang="en-US" altLang="ja-JP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2827A-1932-95EC-01E1-CD2FACF8CB84}"/>
              </a:ext>
            </a:extLst>
          </p:cNvPr>
          <p:cNvSpPr txBox="1"/>
          <p:nvPr/>
        </p:nvSpPr>
        <p:spPr>
          <a:xfrm>
            <a:off x="463296" y="388498"/>
            <a:ext cx="6485405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通信販売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Online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6ED077-822D-42DE-0BFC-98841EBB6701}"/>
              </a:ext>
            </a:extLst>
          </p:cNvPr>
          <p:cNvSpPr txBox="1"/>
          <p:nvPr/>
        </p:nvSpPr>
        <p:spPr>
          <a:xfrm>
            <a:off x="728103" y="4405433"/>
            <a:ext cx="6793254" cy="2123658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かく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合格（ごうかく）：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Lulus (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ujian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格安（かくやす）：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Super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murah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/Harga miring</a:t>
            </a: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 格安で車を買った。</a:t>
            </a:r>
            <a:endParaRPr lang="en-US" altLang="ja-JP" sz="2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Beli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mobil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harga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super </a:t>
            </a:r>
            <a:r>
              <a:rPr lang="en-US" altLang="ja-JP" sz="2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murah</a:t>
            </a:r>
            <a:r>
              <a:rPr lang="en-US" altLang="ja-JP" sz="2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altLang="ja-JP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EA1769-945E-BB01-03B8-1F3D07826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323" y="4405433"/>
            <a:ext cx="2348956" cy="23489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D95C69-472E-B74C-626D-D015DD4DD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766" y="1856364"/>
            <a:ext cx="2442513" cy="244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8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2B146-975D-69BB-A33F-9C082F4D5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63EA7-E873-2ED6-ADD7-1A4060F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BFE30B-524B-05E6-3ED5-1FEA7D9F796F}"/>
              </a:ext>
            </a:extLst>
          </p:cNvPr>
          <p:cNvSpPr txBox="1"/>
          <p:nvPr/>
        </p:nvSpPr>
        <p:spPr>
          <a:xfrm>
            <a:off x="155448" y="1790171"/>
            <a:ext cx="11881104" cy="493648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米国：（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イギリス　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アメリカ）。</a:t>
            </a:r>
            <a:endParaRPr lang="en-US" altLang="ja-JP" sz="20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税込：税金が（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ふくまれている　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ふくまれていない）。</a:t>
            </a:r>
            <a:endParaRPr lang="en-US" altLang="ja-JP" sz="20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合格：試験に（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受かる　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受ける）。</a:t>
            </a:r>
            <a:endParaRPr lang="en-US" altLang="ja-JP" sz="20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残業；終わりの時間が過ぎても（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授業　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仕事）をすること。</a:t>
            </a:r>
            <a:endParaRPr lang="en-US" altLang="ja-JP" sz="20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道が（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組んでいる　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込んでいる）。</a:t>
            </a:r>
            <a:endParaRPr lang="en-US" altLang="ja-JP" sz="20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定価（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現金　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b.1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万円）の商品が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5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千円でお求めになれます。</a:t>
            </a:r>
            <a:endParaRPr lang="en-US" altLang="ja-JP" sz="20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銀行からお金を（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飛び出す　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振り込む）</a:t>
            </a:r>
            <a:endParaRPr lang="en-US" altLang="ja-JP" sz="20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日本語のクラスは初級、中級、（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上級　ｂ</a:t>
            </a:r>
            <a:r>
              <a:rPr lang="en-US" altLang="ja-JP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000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高級）にわかれています。</a:t>
            </a:r>
            <a:endParaRPr lang="en-US" altLang="ja-JP" sz="2000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F6C2E8E-7CEA-6C5B-2818-B93103F4377D}"/>
              </a:ext>
            </a:extLst>
          </p:cNvPr>
          <p:cNvSpPr/>
          <p:nvPr/>
        </p:nvSpPr>
        <p:spPr>
          <a:xfrm>
            <a:off x="2970230" y="1944728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E7F46A-26C2-10E5-0F50-FFF85709FAD7}"/>
              </a:ext>
            </a:extLst>
          </p:cNvPr>
          <p:cNvSpPr/>
          <p:nvPr/>
        </p:nvSpPr>
        <p:spPr>
          <a:xfrm>
            <a:off x="2155028" y="2552112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EB5B9DA-5CC1-BAA4-F53A-A107A86EEB4E}"/>
              </a:ext>
            </a:extLst>
          </p:cNvPr>
          <p:cNvSpPr/>
          <p:nvPr/>
        </p:nvSpPr>
        <p:spPr>
          <a:xfrm>
            <a:off x="2155028" y="3187310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755EF6-0C2F-DE7E-5124-2968A52C7C98}"/>
              </a:ext>
            </a:extLst>
          </p:cNvPr>
          <p:cNvSpPr/>
          <p:nvPr/>
        </p:nvSpPr>
        <p:spPr>
          <a:xfrm>
            <a:off x="5282462" y="3796119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5AD8C4A-6430-611F-8CA2-3784279DED92}"/>
              </a:ext>
            </a:extLst>
          </p:cNvPr>
          <p:cNvSpPr/>
          <p:nvPr/>
        </p:nvSpPr>
        <p:spPr>
          <a:xfrm>
            <a:off x="2970230" y="4451588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7EF806-1B95-B9F0-6203-34E726BE32DE}"/>
              </a:ext>
            </a:extLst>
          </p:cNvPr>
          <p:cNvSpPr/>
          <p:nvPr/>
        </p:nvSpPr>
        <p:spPr>
          <a:xfrm>
            <a:off x="3993126" y="5629694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6F0780-B764-20DE-DEE7-D0BE0FF0FD5C}"/>
              </a:ext>
            </a:extLst>
          </p:cNvPr>
          <p:cNvSpPr txBox="1"/>
          <p:nvPr/>
        </p:nvSpPr>
        <p:spPr>
          <a:xfrm>
            <a:off x="463296" y="388498"/>
            <a:ext cx="6485405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通信販売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Online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6BFC8C-7DED-9D8F-024F-EF6BB5D08262}"/>
              </a:ext>
            </a:extLst>
          </p:cNvPr>
          <p:cNvSpPr/>
          <p:nvPr/>
        </p:nvSpPr>
        <p:spPr>
          <a:xfrm>
            <a:off x="2317625" y="5052029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A881DC-7477-99D0-B86D-33DE83FBD29D}"/>
              </a:ext>
            </a:extLst>
          </p:cNvPr>
          <p:cNvSpPr/>
          <p:nvPr/>
        </p:nvSpPr>
        <p:spPr>
          <a:xfrm>
            <a:off x="4229454" y="6243211"/>
            <a:ext cx="543468" cy="4525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7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BB92-813C-4042-B316-05BBE4D46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ありがとうございました。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94224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30">
      <a:majorFont>
        <a:latin typeface="The Serif Hand 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FB608F-E2ED-4AA5-B472-3C2C89444F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A8DA88-2D67-4B30-8205-C5207871128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D2896BB-5566-4403-84AA-2FD10D9622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Sketch presentation</Template>
  <TotalTime>229</TotalTime>
  <Words>2886</Words>
  <Application>Microsoft Office PowerPoint</Application>
  <PresentationFormat>Widescreen</PresentationFormat>
  <Paragraphs>281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UD Digi Kyokasho N</vt:lpstr>
      <vt:lpstr>Arial</vt:lpstr>
      <vt:lpstr>Calibri</vt:lpstr>
      <vt:lpstr>Courier New</vt:lpstr>
      <vt:lpstr>The Hand Black</vt:lpstr>
      <vt:lpstr>The Serif Hand Black</vt:lpstr>
      <vt:lpstr>Wingdings</vt:lpstr>
      <vt:lpstr>SketchyVTI</vt:lpstr>
      <vt:lpstr>語彙</vt:lpstr>
      <vt:lpstr>Agenda</vt:lpstr>
      <vt:lpstr>Agenda</vt:lpstr>
      <vt:lpstr>Agenda</vt:lpstr>
      <vt:lpstr>Agenda</vt:lpstr>
      <vt:lpstr>Agenda</vt:lpstr>
      <vt:lpstr>Agenda</vt:lpstr>
      <vt:lpstr>Agenda</vt:lpstr>
      <vt:lpstr>Agenda</vt:lpstr>
      <vt:lpstr>PowerPoint Presentation</vt:lpstr>
      <vt:lpstr>PowerPoint Presentation</vt:lpstr>
      <vt:lpstr>PowerPoint Presentation</vt:lpstr>
      <vt:lpstr>PowerPoint Presentation</vt:lpstr>
      <vt:lpstr>漢字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ありがとうございました。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Febriana Ardiyawati</dc:creator>
  <cp:lastModifiedBy>Febriana Ardiyawati</cp:lastModifiedBy>
  <cp:revision>6</cp:revision>
  <dcterms:created xsi:type="dcterms:W3CDTF">2026-10-16T02:47:24Z</dcterms:created>
  <dcterms:modified xsi:type="dcterms:W3CDTF">2026-10-26T13:32:51Z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